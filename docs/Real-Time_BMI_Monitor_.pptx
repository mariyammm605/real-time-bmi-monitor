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70" r:id="rId15"/>
    <p:sldId id="271" r:id="rId16"/>
    <p:sldId id="272" r:id="rId17"/>
    <p:sldId id="273" r:id="rId18"/>
    <p:sldId id="274" r:id="rId19"/>
    <p:sldId id="275" r:id="rId20"/>
    <p:sldId id="276" r:id="rId21"/>
    <p:sldId id="277" r:id="rId22"/>
    <p:sldId id="268" r:id="rId23"/>
    <p:sldId id="266" r:id="rId24"/>
  </p:sldIdLst>
  <p:sldSz cx="18288000" cy="10287000"/>
  <p:notesSz cx="6858000" cy="9144000"/>
  <p:embeddedFontLst>
    <p:embeddedFont>
      <p:font typeface="Aharoni" panose="02010803020104030203" pitchFamily="2" charset="-79"/>
      <p:bold r:id="rId25"/>
    </p:embeddedFont>
    <p:embeddedFont>
      <p:font typeface="Century Gothic Paneuropean" panose="020B0604020202020204" charset="0"/>
      <p:regular r:id="rId26"/>
    </p:embeddedFont>
    <p:embeddedFont>
      <p:font typeface="Century Gothic Paneuropean Bold" panose="020B0604020202020204" charset="0"/>
      <p:regular r:id="rId27"/>
    </p:embeddedFont>
    <p:embeddedFont>
      <p:font typeface="Open Sans" panose="020B060603050402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49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36466" y="2840550"/>
            <a:ext cx="13018493" cy="3520981"/>
          </a:xfrm>
          <a:prstGeom prst="rect">
            <a:avLst/>
          </a:prstGeom>
        </p:spPr>
        <p:txBody>
          <a:bodyPr lIns="0" tIns="0" rIns="0" bIns="0" rtlCol="0" anchor="t">
            <a:spAutoFit/>
          </a:bodyPr>
          <a:lstStyle/>
          <a:p>
            <a:pPr algn="ctr">
              <a:lnSpc>
                <a:spcPts val="13741"/>
              </a:lnSpc>
            </a:pPr>
            <a:r>
              <a:rPr lang="en-US" sz="12492" b="1">
                <a:solidFill>
                  <a:srgbClr val="000000"/>
                </a:solidFill>
                <a:latin typeface="Century Gothic Paneuropean Bold"/>
                <a:ea typeface="Century Gothic Paneuropean Bold"/>
                <a:cs typeface="Century Gothic Paneuropean Bold"/>
                <a:sym typeface="Century Gothic Paneuropean Bold"/>
              </a:rPr>
              <a:t>REAL-TIME BMI</a:t>
            </a:r>
          </a:p>
          <a:p>
            <a:pPr algn="ctr">
              <a:lnSpc>
                <a:spcPts val="13741"/>
              </a:lnSpc>
            </a:pPr>
            <a:r>
              <a:rPr lang="en-US" sz="12492" b="1">
                <a:solidFill>
                  <a:srgbClr val="000000"/>
                </a:solidFill>
                <a:latin typeface="Century Gothic Paneuropean Bold"/>
                <a:ea typeface="Century Gothic Paneuropean Bold"/>
                <a:cs typeface="Century Gothic Paneuropean Bold"/>
                <a:sym typeface="Century Gothic Paneuropean Bold"/>
              </a:rPr>
              <a:t> MONITOR</a:t>
            </a:r>
          </a:p>
        </p:txBody>
      </p:sp>
      <p:sp>
        <p:nvSpPr>
          <p:cNvPr id="3" name="TextBox 3"/>
          <p:cNvSpPr txBox="1"/>
          <p:nvPr/>
        </p:nvSpPr>
        <p:spPr>
          <a:xfrm>
            <a:off x="10595188" y="6747438"/>
            <a:ext cx="11930224" cy="3539562"/>
          </a:xfrm>
          <a:prstGeom prst="rect">
            <a:avLst/>
          </a:prstGeom>
        </p:spPr>
        <p:txBody>
          <a:bodyPr lIns="0" tIns="0" rIns="0" bIns="0" rtlCol="0" anchor="t">
            <a:spAutoFit/>
          </a:bodyPr>
          <a:lstStyle/>
          <a:p>
            <a:pPr algn="l">
              <a:lnSpc>
                <a:spcPts val="5137"/>
              </a:lnSpc>
            </a:pPr>
            <a:r>
              <a:rPr lang="en-US" sz="3669" b="1">
                <a:solidFill>
                  <a:srgbClr val="000000"/>
                </a:solidFill>
                <a:latin typeface="Century Gothic Paneuropean Bold"/>
                <a:ea typeface="Century Gothic Paneuropean Bold"/>
                <a:cs typeface="Century Gothic Paneuropean Bold"/>
                <a:sym typeface="Century Gothic Paneuropean Bold"/>
              </a:rPr>
              <a:t>Gayathri Rajesh 24BEC1296</a:t>
            </a:r>
          </a:p>
          <a:p>
            <a:pPr algn="l">
              <a:lnSpc>
                <a:spcPts val="5137"/>
              </a:lnSpc>
            </a:pPr>
            <a:r>
              <a:rPr lang="en-US" sz="3669" b="1">
                <a:solidFill>
                  <a:srgbClr val="000000"/>
                </a:solidFill>
                <a:latin typeface="Century Gothic Paneuropean Bold"/>
                <a:ea typeface="Century Gothic Paneuropean Bold"/>
                <a:cs typeface="Century Gothic Paneuropean Bold"/>
                <a:sym typeface="Century Gothic Paneuropean Bold"/>
              </a:rPr>
              <a:t>A Manasa Reddy 24BEC1070</a:t>
            </a:r>
          </a:p>
          <a:p>
            <a:pPr algn="l">
              <a:lnSpc>
                <a:spcPts val="5137"/>
              </a:lnSpc>
            </a:pPr>
            <a:r>
              <a:rPr lang="en-US" sz="3669" b="1">
                <a:solidFill>
                  <a:srgbClr val="000000"/>
                </a:solidFill>
                <a:latin typeface="Century Gothic Paneuropean Bold"/>
                <a:ea typeface="Century Gothic Paneuropean Bold"/>
                <a:cs typeface="Century Gothic Paneuropean Bold"/>
                <a:sym typeface="Century Gothic Paneuropean Bold"/>
              </a:rPr>
              <a:t>Mariyam Shaji 24BEC1346</a:t>
            </a:r>
          </a:p>
          <a:p>
            <a:pPr algn="l">
              <a:lnSpc>
                <a:spcPts val="5137"/>
              </a:lnSpc>
            </a:pPr>
            <a:r>
              <a:rPr lang="en-US" sz="3669" b="1">
                <a:solidFill>
                  <a:srgbClr val="000000"/>
                </a:solidFill>
                <a:latin typeface="Century Gothic Paneuropean Bold"/>
                <a:ea typeface="Century Gothic Paneuropean Bold"/>
                <a:cs typeface="Century Gothic Paneuropean Bold"/>
                <a:sym typeface="Century Gothic Paneuropean Bold"/>
              </a:rPr>
              <a:t>V Pardhu Sai Harsha 24BEC1091</a:t>
            </a:r>
          </a:p>
          <a:p>
            <a:pPr algn="l">
              <a:lnSpc>
                <a:spcPts val="7928"/>
              </a:lnSpc>
            </a:pPr>
            <a:endParaRPr lang="en-US" sz="3669" b="1">
              <a:solidFill>
                <a:srgbClr val="000000"/>
              </a:solidFill>
              <a:latin typeface="Century Gothic Paneuropean Bold"/>
              <a:ea typeface="Century Gothic Paneuropean Bold"/>
              <a:cs typeface="Century Gothic Paneuropean Bold"/>
              <a:sym typeface="Century Gothic Paneuropean Bold"/>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731469" y="876300"/>
            <a:ext cx="8537178" cy="1392115"/>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OBJECTIVE</a:t>
            </a:r>
          </a:p>
        </p:txBody>
      </p:sp>
      <p:sp>
        <p:nvSpPr>
          <p:cNvPr id="9" name="TextBox 9"/>
          <p:cNvSpPr txBox="1"/>
          <p:nvPr/>
        </p:nvSpPr>
        <p:spPr>
          <a:xfrm>
            <a:off x="2148921" y="2824810"/>
            <a:ext cx="14570022" cy="6355962"/>
          </a:xfrm>
          <a:prstGeom prst="rect">
            <a:avLst/>
          </a:prstGeom>
        </p:spPr>
        <p:txBody>
          <a:bodyPr lIns="0" tIns="0" rIns="0" bIns="0" rtlCol="0" anchor="t">
            <a:spAutoFit/>
          </a:bodyPr>
          <a:lstStyle/>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The aim of this project is to design a smart, real-time BMI health checker using digital logic components. By utilizing a 4-to-16 decoder, OR gate networks, and a 2-to-4 decoder, the system classifies a person’s BMI category based on encoded Height and Weight inputs. The outputs are then clearly displayed as Underweight, Normal, Overweight, or Obese using LED indicators.This project demonstrates interactive digital solution with practical applications in gyms, clinics, and health awareness stations.</a:t>
            </a:r>
          </a:p>
          <a:p>
            <a:pPr algn="ctr">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69057" y="1140342"/>
            <a:ext cx="12735499" cy="1193800"/>
          </a:xfrm>
          <a:prstGeom prst="rect">
            <a:avLst/>
          </a:prstGeom>
        </p:spPr>
        <p:txBody>
          <a:bodyPr lIns="0" tIns="0" rIns="0" bIns="0" rtlCol="0" anchor="t">
            <a:spAutoFit/>
          </a:bodyPr>
          <a:lstStyle/>
          <a:p>
            <a:pPr algn="ctr">
              <a:lnSpc>
                <a:spcPts val="9799"/>
              </a:lnSpc>
            </a:pPr>
            <a:r>
              <a:rPr lang="en-US" sz="6999" b="1">
                <a:solidFill>
                  <a:srgbClr val="000000"/>
                </a:solidFill>
                <a:latin typeface="Century Gothic Paneuropean Bold"/>
                <a:ea typeface="Century Gothic Paneuropean Bold"/>
                <a:cs typeface="Century Gothic Paneuropean Bold"/>
                <a:sym typeface="Century Gothic Paneuropean Bold"/>
              </a:rPr>
              <a:t>COMPONENTS REQUIRED</a:t>
            </a:r>
          </a:p>
        </p:txBody>
      </p:sp>
      <p:sp>
        <p:nvSpPr>
          <p:cNvPr id="3" name="TextBox 3"/>
          <p:cNvSpPr txBox="1"/>
          <p:nvPr/>
        </p:nvSpPr>
        <p:spPr>
          <a:xfrm>
            <a:off x="3359972" y="2754169"/>
            <a:ext cx="12026612" cy="6625403"/>
          </a:xfrm>
          <a:prstGeom prst="rect">
            <a:avLst/>
          </a:prstGeom>
        </p:spPr>
        <p:txBody>
          <a:bodyPr lIns="0" tIns="0" rIns="0" bIns="0" rtlCol="0" anchor="t">
            <a:spAutoFit/>
          </a:bodyPr>
          <a:lstStyle/>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4-to-16 Active low Decoder (IC 74154)</a:t>
            </a:r>
          </a:p>
          <a:p>
            <a:pPr marL="975261" lvl="1" indent="-571500" algn="l">
              <a:lnSpc>
                <a:spcPts val="5236"/>
              </a:lnSpc>
              <a:buFont typeface="Arial" panose="020B0604020202020204" pitchFamily="34" charset="0"/>
              <a:buChar char="•"/>
            </a:pPr>
            <a:r>
              <a:rPr lang="en-US" sz="3740" dirty="0">
                <a:solidFill>
                  <a:srgbClr val="000000"/>
                </a:solidFill>
                <a:latin typeface="Century Gothic Paneuropean"/>
                <a:ea typeface="Century Gothic Paneuropean"/>
                <a:cs typeface="Century Gothic Paneuropean"/>
                <a:sym typeface="Century Gothic Paneuropean"/>
              </a:rPr>
              <a:t>2-to-4 Line Decoder (IC 74139)</a:t>
            </a:r>
          </a:p>
          <a:p>
            <a:pPr marL="975261" lvl="1" indent="-571500">
              <a:lnSpc>
                <a:spcPts val="5236"/>
              </a:lnSpc>
              <a:buFont typeface="Arial" panose="020B0604020202020204" pitchFamily="34" charset="0"/>
              <a:buChar char="•"/>
            </a:pPr>
            <a:r>
              <a:rPr lang="en-US" sz="3740" dirty="0">
                <a:solidFill>
                  <a:srgbClr val="000000"/>
                </a:solidFill>
                <a:latin typeface="Century Gothic Paneuropean"/>
                <a:ea typeface="Century Gothic Paneuropean"/>
                <a:cs typeface="Century Gothic Paneuropean"/>
                <a:sym typeface="Century Gothic Paneuropean"/>
              </a:rPr>
              <a:t>Not gate (IC7404)</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OR Gate IC (IC 7432)</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LEDs (4 Nos.)</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Resistors (220Ω – 330Ω)</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Power Supply (5V DC)</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Breadboard / PCB</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Connecting Wires</a:t>
            </a:r>
          </a:p>
          <a:p>
            <a:pPr marL="807522" lvl="1" indent="-403761" algn="l">
              <a:lnSpc>
                <a:spcPts val="5236"/>
              </a:lnSpc>
              <a:buFont typeface="Arial"/>
              <a:buChar char="•"/>
            </a:pPr>
            <a:r>
              <a:rPr lang="en-US" sz="3740" dirty="0">
                <a:solidFill>
                  <a:srgbClr val="000000"/>
                </a:solidFill>
                <a:latin typeface="Century Gothic Paneuropean"/>
                <a:ea typeface="Century Gothic Paneuropean"/>
                <a:cs typeface="Century Gothic Paneuropean"/>
                <a:sym typeface="Century Gothic Paneuropean"/>
              </a:rPr>
              <a:t>Input Switches / DIP Switches</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2804" y="302481"/>
            <a:ext cx="8537178" cy="1309564"/>
          </a:xfrm>
          <a:prstGeom prst="rect">
            <a:avLst/>
          </a:prstGeom>
        </p:spPr>
        <p:txBody>
          <a:bodyPr lIns="0" tIns="0" rIns="0" bIns="0" rtlCol="0" anchor="t">
            <a:spAutoFit/>
          </a:bodyPr>
          <a:lstStyle/>
          <a:p>
            <a:pPr algn="ctr">
              <a:lnSpc>
                <a:spcPts val="10769"/>
              </a:lnSpc>
            </a:pPr>
            <a:r>
              <a:rPr lang="en-US" sz="7692" b="1">
                <a:solidFill>
                  <a:srgbClr val="000000"/>
                </a:solidFill>
                <a:latin typeface="Century Gothic Paneuropean Bold"/>
                <a:ea typeface="Century Gothic Paneuropean Bold"/>
                <a:cs typeface="Century Gothic Paneuropean Bold"/>
                <a:sym typeface="Century Gothic Paneuropean Bold"/>
              </a:rPr>
              <a:t>METHODOLOGY</a:t>
            </a:r>
          </a:p>
        </p:txBody>
      </p:sp>
      <p:sp>
        <p:nvSpPr>
          <p:cNvPr id="3" name="TextBox 3"/>
          <p:cNvSpPr txBox="1"/>
          <p:nvPr/>
        </p:nvSpPr>
        <p:spPr>
          <a:xfrm>
            <a:off x="2432768" y="2689184"/>
            <a:ext cx="14654428" cy="976630"/>
          </a:xfrm>
          <a:prstGeom prst="rect">
            <a:avLst/>
          </a:prstGeom>
        </p:spPr>
        <p:txBody>
          <a:bodyPr lIns="0" tIns="0" rIns="0" bIns="0" rtlCol="0" anchor="t">
            <a:spAutoFit/>
          </a:bodyPr>
          <a:lstStyle/>
          <a:p>
            <a:pPr algn="l">
              <a:lnSpc>
                <a:spcPts val="3919"/>
              </a:lnSpc>
            </a:pPr>
            <a:r>
              <a:rPr lang="en-US" sz="2799">
                <a:solidFill>
                  <a:srgbClr val="000000"/>
                </a:solidFill>
                <a:latin typeface="Century Gothic Paneuropean"/>
                <a:ea typeface="Century Gothic Paneuropean"/>
                <a:cs typeface="Century Gothic Paneuropean"/>
                <a:sym typeface="Century Gothic Paneuropean"/>
              </a:rPr>
              <a:t>Monitoring health is crucial, and BMI is a simple measure of fitness. This project provides a fast, accurate, and interactive BMI checker decoders for real-time uses.</a:t>
            </a:r>
          </a:p>
        </p:txBody>
      </p:sp>
      <p:sp>
        <p:nvSpPr>
          <p:cNvPr id="4" name="TextBox 4"/>
          <p:cNvSpPr txBox="1"/>
          <p:nvPr/>
        </p:nvSpPr>
        <p:spPr>
          <a:xfrm>
            <a:off x="2260665" y="4553188"/>
            <a:ext cx="14998635" cy="1967230"/>
          </a:xfrm>
          <a:prstGeom prst="rect">
            <a:avLst/>
          </a:prstGeom>
        </p:spPr>
        <p:txBody>
          <a:bodyPr lIns="0" tIns="0" rIns="0" bIns="0" rtlCol="0" anchor="t">
            <a:spAutoFit/>
          </a:bodyPr>
          <a:lstStyle/>
          <a:p>
            <a:pPr algn="l">
              <a:lnSpc>
                <a:spcPts val="3919"/>
              </a:lnSpc>
            </a:pPr>
            <a:r>
              <a:rPr lang="en-US" sz="2799">
                <a:solidFill>
                  <a:srgbClr val="000000"/>
                </a:solidFill>
                <a:latin typeface="Century Gothic Paneuropean"/>
                <a:ea typeface="Century Gothic Paneuropean"/>
                <a:cs typeface="Century Gothic Paneuropean"/>
                <a:sym typeface="Century Gothic Paneuropean"/>
              </a:rPr>
              <a:t>Two 2-bit switches simulate the inputs for:</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Height (H1, H0) → represents four height ranges</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Weight (W1, W0) → represents four weight ranges</a:t>
            </a:r>
          </a:p>
          <a:p>
            <a:pPr algn="l">
              <a:lnSpc>
                <a:spcPts val="3919"/>
              </a:lnSpc>
            </a:pPr>
            <a:r>
              <a:rPr lang="en-US" sz="2799">
                <a:solidFill>
                  <a:srgbClr val="000000"/>
                </a:solidFill>
                <a:latin typeface="Century Gothic Paneuropean"/>
                <a:ea typeface="Century Gothic Paneuropean"/>
                <a:cs typeface="Century Gothic Paneuropean"/>
                <a:sym typeface="Century Gothic Paneuropean"/>
              </a:rPr>
              <a:t>Each combination of height and weight is used to determine the BMI category.</a:t>
            </a:r>
          </a:p>
        </p:txBody>
      </p:sp>
      <p:grpSp>
        <p:nvGrpSpPr>
          <p:cNvPr id="5" name="Group 5"/>
          <p:cNvGrpSpPr/>
          <p:nvPr/>
        </p:nvGrpSpPr>
        <p:grpSpPr>
          <a:xfrm>
            <a:off x="16718943" y="-989670"/>
            <a:ext cx="1080715" cy="2956684"/>
            <a:chOff x="0" y="0"/>
            <a:chExt cx="284633" cy="778715"/>
          </a:xfrm>
        </p:grpSpPr>
        <p:sp>
          <p:nvSpPr>
            <p:cNvPr id="6" name="Freeform 6"/>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7" name="TextBox 7"/>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529352" y="9933456"/>
            <a:ext cx="19346704" cy="721533"/>
            <a:chOff x="0" y="0"/>
            <a:chExt cx="5095428" cy="190033"/>
          </a:xfrm>
        </p:grpSpPr>
        <p:sp>
          <p:nvSpPr>
            <p:cNvPr id="9" name="Freeform 9"/>
            <p:cNvSpPr/>
            <p:nvPr/>
          </p:nvSpPr>
          <p:spPr>
            <a:xfrm>
              <a:off x="0" y="0"/>
              <a:ext cx="5095428" cy="190033"/>
            </a:xfrm>
            <a:custGeom>
              <a:avLst/>
              <a:gdLst/>
              <a:ahLst/>
              <a:cxnLst/>
              <a:rect l="l" t="t" r="r" b="b"/>
              <a:pathLst>
                <a:path w="5095428" h="190033">
                  <a:moveTo>
                    <a:pt x="20409" y="0"/>
                  </a:moveTo>
                  <a:lnTo>
                    <a:pt x="5075020" y="0"/>
                  </a:lnTo>
                  <a:cubicBezTo>
                    <a:pt x="5086291" y="0"/>
                    <a:pt x="5095428" y="9137"/>
                    <a:pt x="5095428" y="20409"/>
                  </a:cubicBezTo>
                  <a:lnTo>
                    <a:pt x="5095428" y="169625"/>
                  </a:lnTo>
                  <a:cubicBezTo>
                    <a:pt x="5095428" y="180896"/>
                    <a:pt x="5086291" y="190033"/>
                    <a:pt x="5075020" y="190033"/>
                  </a:cubicBezTo>
                  <a:lnTo>
                    <a:pt x="20409" y="190033"/>
                  </a:lnTo>
                  <a:cubicBezTo>
                    <a:pt x="14996" y="190033"/>
                    <a:pt x="9805" y="187883"/>
                    <a:pt x="5978" y="184056"/>
                  </a:cubicBezTo>
                  <a:cubicBezTo>
                    <a:pt x="2150" y="180228"/>
                    <a:pt x="0" y="175037"/>
                    <a:pt x="0" y="169625"/>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10" name="TextBox 10"/>
            <p:cNvSpPr txBox="1"/>
            <p:nvPr/>
          </p:nvSpPr>
          <p:spPr>
            <a:xfrm>
              <a:off x="0" y="-38100"/>
              <a:ext cx="5095428" cy="228133"/>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3" name="Group 13"/>
          <p:cNvGrpSpPr/>
          <p:nvPr/>
        </p:nvGrpSpPr>
        <p:grpSpPr>
          <a:xfrm>
            <a:off x="488343" y="-989670"/>
            <a:ext cx="1080715" cy="2956684"/>
            <a:chOff x="0" y="0"/>
            <a:chExt cx="284633" cy="778715"/>
          </a:xfrm>
        </p:grpSpPr>
        <p:sp>
          <p:nvSpPr>
            <p:cNvPr id="14" name="Freeform 1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5" name="TextBox 1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953398" y="1890815"/>
            <a:ext cx="12207710" cy="606425"/>
          </a:xfrm>
          <a:prstGeom prst="rect">
            <a:avLst/>
          </a:prstGeom>
        </p:spPr>
        <p:txBody>
          <a:bodyPr lIns="0" tIns="0" rIns="0" bIns="0" rtlCol="0" anchor="t">
            <a:spAutoFit/>
          </a:bodyPr>
          <a:lstStyle/>
          <a:p>
            <a:pPr algn="ctr">
              <a:lnSpc>
                <a:spcPts val="4900"/>
              </a:lnSpc>
            </a:pPr>
            <a:r>
              <a:rPr lang="en-US" sz="3500" b="1">
                <a:solidFill>
                  <a:srgbClr val="000000"/>
                </a:solidFill>
                <a:latin typeface="Century Gothic Paneuropean Bold"/>
                <a:ea typeface="Century Gothic Paneuropean Bold"/>
                <a:cs typeface="Century Gothic Paneuropean Bold"/>
                <a:sym typeface="Century Gothic Paneuropean Bold"/>
              </a:rPr>
              <a:t>Identifying the Need :</a:t>
            </a:r>
          </a:p>
        </p:txBody>
      </p:sp>
      <p:sp>
        <p:nvSpPr>
          <p:cNvPr id="17" name="TextBox 17"/>
          <p:cNvSpPr txBox="1"/>
          <p:nvPr/>
        </p:nvSpPr>
        <p:spPr>
          <a:xfrm>
            <a:off x="1722376" y="3838708"/>
            <a:ext cx="12207710" cy="606425"/>
          </a:xfrm>
          <a:prstGeom prst="rect">
            <a:avLst/>
          </a:prstGeom>
        </p:spPr>
        <p:txBody>
          <a:bodyPr lIns="0" tIns="0" rIns="0" bIns="0" rtlCol="0" anchor="t">
            <a:spAutoFit/>
          </a:bodyPr>
          <a:lstStyle/>
          <a:p>
            <a:pPr algn="l">
              <a:lnSpc>
                <a:spcPts val="4900"/>
              </a:lnSpc>
            </a:pPr>
            <a:r>
              <a:rPr lang="en-US" sz="3500" b="1">
                <a:solidFill>
                  <a:srgbClr val="000000"/>
                </a:solidFill>
                <a:latin typeface="Century Gothic Paneuropean Bold"/>
                <a:ea typeface="Century Gothic Paneuropean Bold"/>
                <a:cs typeface="Century Gothic Paneuropean Bold"/>
                <a:sym typeface="Century Gothic Paneuropean Bold"/>
              </a:rPr>
              <a:t>Input simulation :</a:t>
            </a:r>
          </a:p>
        </p:txBody>
      </p:sp>
      <p:sp>
        <p:nvSpPr>
          <p:cNvPr id="18" name="TextBox 18"/>
          <p:cNvSpPr txBox="1"/>
          <p:nvPr/>
        </p:nvSpPr>
        <p:spPr>
          <a:xfrm>
            <a:off x="-2121330" y="6615668"/>
            <a:ext cx="12207710" cy="606425"/>
          </a:xfrm>
          <a:prstGeom prst="rect">
            <a:avLst/>
          </a:prstGeom>
        </p:spPr>
        <p:txBody>
          <a:bodyPr lIns="0" tIns="0" rIns="0" bIns="0" rtlCol="0" anchor="t">
            <a:spAutoFit/>
          </a:bodyPr>
          <a:lstStyle/>
          <a:p>
            <a:pPr algn="ctr">
              <a:lnSpc>
                <a:spcPts val="4900"/>
              </a:lnSpc>
            </a:pPr>
            <a:r>
              <a:rPr lang="en-US" sz="3500" b="1">
                <a:solidFill>
                  <a:srgbClr val="000000"/>
                </a:solidFill>
                <a:latin typeface="Century Gothic Paneuropean Bold"/>
                <a:ea typeface="Century Gothic Paneuropean Bold"/>
                <a:cs typeface="Century Gothic Paneuropean Bold"/>
                <a:sym typeface="Century Gothic Paneuropean Bold"/>
              </a:rPr>
              <a:t>Logic Development :</a:t>
            </a:r>
          </a:p>
        </p:txBody>
      </p:sp>
      <p:sp>
        <p:nvSpPr>
          <p:cNvPr id="19" name="TextBox 19"/>
          <p:cNvSpPr txBox="1"/>
          <p:nvPr/>
        </p:nvSpPr>
        <p:spPr>
          <a:xfrm>
            <a:off x="2587062" y="7336393"/>
            <a:ext cx="14998635" cy="3453130"/>
          </a:xfrm>
          <a:prstGeom prst="rect">
            <a:avLst/>
          </a:prstGeom>
        </p:spPr>
        <p:txBody>
          <a:bodyPr lIns="0" tIns="0" rIns="0" bIns="0" rtlCol="0" anchor="t">
            <a:spAutoFit/>
          </a:bodyPr>
          <a:lstStyle/>
          <a:p>
            <a:pPr algn="l">
              <a:lnSpc>
                <a:spcPts val="3919"/>
              </a:lnSpc>
            </a:pPr>
            <a:r>
              <a:rPr lang="en-US" sz="2799" b="1" dirty="0">
                <a:solidFill>
                  <a:srgbClr val="000000"/>
                </a:solidFill>
                <a:latin typeface="Century Gothic Paneuropean Bold"/>
                <a:ea typeface="Century Gothic Paneuropean Bold"/>
                <a:cs typeface="Century Gothic Paneuropean Bold"/>
                <a:sym typeface="Century Gothic Paneuropean Bold"/>
              </a:rPr>
              <a:t>Height (H1 H0) — 2-bit ranges (use midpoint for BMI calculation)</a:t>
            </a:r>
          </a:p>
          <a:p>
            <a:pPr marL="604519" lvl="1" indent="-302260" algn="l">
              <a:lnSpc>
                <a:spcPts val="391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00 → 1.40 – 1.60 m (mid ≈ 1.50 m)</a:t>
            </a:r>
          </a:p>
          <a:p>
            <a:pPr marL="604519" lvl="1" indent="-302260" algn="l">
              <a:lnSpc>
                <a:spcPts val="391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01 → 1.60 – 1.65 m (mid ≈ 1.625 m)</a:t>
            </a:r>
          </a:p>
          <a:p>
            <a:pPr marL="604519" lvl="1" indent="-302260" algn="l">
              <a:lnSpc>
                <a:spcPts val="391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10 → 1.66 – 1.75 m (mid ≈ 1.705 m)</a:t>
            </a:r>
          </a:p>
          <a:p>
            <a:pPr marL="604519" lvl="1" indent="-302260" algn="l">
              <a:lnSpc>
                <a:spcPts val="391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11 → 1.76 – 1.85 m (mid ≈ 1.805 m)</a:t>
            </a:r>
          </a:p>
          <a:p>
            <a:pPr algn="l">
              <a:lnSpc>
                <a:spcPts val="3919"/>
              </a:lnSpc>
            </a:pPr>
            <a:endParaRPr lang="en-US" sz="2799" dirty="0">
              <a:solidFill>
                <a:srgbClr val="000000"/>
              </a:solidFill>
              <a:latin typeface="Century Gothic Paneuropean"/>
              <a:ea typeface="Century Gothic Paneuropean"/>
              <a:cs typeface="Century Gothic Paneuropean"/>
              <a:sym typeface="Century Gothic Paneuropean"/>
            </a:endParaRPr>
          </a:p>
          <a:p>
            <a:pPr algn="l">
              <a:lnSpc>
                <a:spcPts val="3919"/>
              </a:lnSpc>
            </a:pPr>
            <a:endParaRPr lang="en-US" sz="2799" dirty="0">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59191" y="575018"/>
            <a:ext cx="12130193" cy="2607945"/>
          </a:xfrm>
          <a:prstGeom prst="rect">
            <a:avLst/>
          </a:prstGeom>
        </p:spPr>
        <p:txBody>
          <a:bodyPr lIns="0" tIns="0" rIns="0" bIns="0" rtlCol="0" anchor="t">
            <a:spAutoFit/>
          </a:bodyPr>
          <a:lstStyle/>
          <a:p>
            <a:pPr algn="l">
              <a:lnSpc>
                <a:spcPts val="4479"/>
              </a:lnSpc>
            </a:pPr>
            <a:r>
              <a:rPr lang="en-US" sz="2799" b="1">
                <a:solidFill>
                  <a:srgbClr val="000000"/>
                </a:solidFill>
                <a:latin typeface="Century Gothic Paneuropean Bold"/>
                <a:ea typeface="Century Gothic Paneuropean Bold"/>
                <a:cs typeface="Century Gothic Paneuropean Bold"/>
                <a:sym typeface="Century Gothic Paneuropean Bold"/>
              </a:rPr>
              <a:t>Weight (W1 W0) — 2-bit encoding (kg):</a:t>
            </a:r>
          </a:p>
          <a:p>
            <a:pPr marL="604519" lvl="1" indent="-302260" algn="l">
              <a:lnSpc>
                <a:spcPts val="447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00 → 40 – 50 kg (mid = 45.0 kg)</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01 → 51 – 60 kg (mid = 55.5 kg)</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10 → 61 – 75 kg (mid = 68.0 kg)</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11 → 76 – 95 kg (mid = 85.5 kg)</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228600"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359191" y="3355604"/>
            <a:ext cx="12130193" cy="2462530"/>
          </a:xfrm>
          <a:prstGeom prst="rect">
            <a:avLst/>
          </a:prstGeom>
        </p:spPr>
        <p:txBody>
          <a:bodyPr lIns="0" tIns="0" rIns="0" bIns="0" rtlCol="0" anchor="t">
            <a:spAutoFit/>
          </a:bodyPr>
          <a:lstStyle/>
          <a:p>
            <a:pPr algn="l">
              <a:lnSpc>
                <a:spcPts val="3919"/>
              </a:lnSpc>
            </a:pPr>
            <a:r>
              <a:rPr lang="en-US" sz="2799" b="1">
                <a:solidFill>
                  <a:srgbClr val="000000"/>
                </a:solidFill>
                <a:latin typeface="Century Gothic Paneuropean Bold"/>
                <a:ea typeface="Century Gothic Paneuropean Bold"/>
                <a:cs typeface="Century Gothic Paneuropean Bold"/>
                <a:sym typeface="Century Gothic Paneuropean Bold"/>
              </a:rPr>
              <a:t>Output coding (2-bit BMI code)</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00 → Underweight</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01 → Normal</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10 → Overweight</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11 → Obese</a:t>
            </a:r>
          </a:p>
        </p:txBody>
      </p:sp>
      <p:sp>
        <p:nvSpPr>
          <p:cNvPr id="15" name="TextBox 15"/>
          <p:cNvSpPr txBox="1"/>
          <p:nvPr/>
        </p:nvSpPr>
        <p:spPr>
          <a:xfrm>
            <a:off x="1999335" y="5990775"/>
            <a:ext cx="12130193" cy="3596005"/>
          </a:xfrm>
          <a:prstGeom prst="rect">
            <a:avLst/>
          </a:prstGeom>
        </p:spPr>
        <p:txBody>
          <a:bodyPr lIns="0" tIns="0" rIns="0" bIns="0" rtlCol="0" anchor="t">
            <a:spAutoFit/>
          </a:bodyPr>
          <a:lstStyle/>
          <a:p>
            <a:pPr algn="l">
              <a:lnSpc>
                <a:spcPts val="3919"/>
              </a:lnSpc>
            </a:pPr>
            <a:r>
              <a:rPr lang="en-US" sz="2799" dirty="0">
                <a:solidFill>
                  <a:srgbClr val="000000"/>
                </a:solidFill>
                <a:latin typeface="Century Gothic Paneuropean"/>
                <a:ea typeface="Century Gothic Paneuropean"/>
                <a:cs typeface="Century Gothic Paneuropean"/>
                <a:sym typeface="Century Gothic Paneuropean"/>
              </a:rPr>
              <a:t>I computed these by using the formula</a:t>
            </a:r>
          </a:p>
          <a:p>
            <a:pPr algn="l">
              <a:lnSpc>
                <a:spcPts val="4199"/>
              </a:lnSpc>
            </a:pPr>
            <a:r>
              <a:rPr lang="en-US" sz="2799" b="1" dirty="0">
                <a:solidFill>
                  <a:srgbClr val="000000"/>
                </a:solidFill>
                <a:latin typeface="Century Gothic Paneuropean Bold"/>
                <a:ea typeface="Century Gothic Paneuropean Bold"/>
                <a:cs typeface="Century Gothic Paneuropean Bold"/>
                <a:sym typeface="Century Gothic Paneuropean Bold"/>
              </a:rPr>
              <a:t>BMI = Weight / height^2</a:t>
            </a:r>
          </a:p>
          <a:p>
            <a:pPr marL="604519" lvl="1" indent="-302260" algn="l">
              <a:lnSpc>
                <a:spcPts val="419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Underweight &lt;18.5</a:t>
            </a:r>
          </a:p>
          <a:p>
            <a:pPr marL="604519" lvl="1" indent="-302260" algn="l">
              <a:lnSpc>
                <a:spcPts val="419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Normal 18.5–24.9</a:t>
            </a:r>
          </a:p>
          <a:p>
            <a:pPr marL="604519" lvl="1" indent="-302260" algn="l">
              <a:lnSpc>
                <a:spcPts val="419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Overweight 25–29.9</a:t>
            </a:r>
          </a:p>
          <a:p>
            <a:pPr marL="604519" lvl="1" indent="-302260" algn="l">
              <a:lnSpc>
                <a:spcPts val="4199"/>
              </a:lnSpc>
              <a:buFont typeface="Arial"/>
              <a:buChar char="•"/>
            </a:pPr>
            <a:r>
              <a:rPr lang="en-US" sz="2799" dirty="0">
                <a:solidFill>
                  <a:srgbClr val="000000"/>
                </a:solidFill>
                <a:latin typeface="Century Gothic Paneuropean"/>
                <a:ea typeface="Century Gothic Paneuropean"/>
                <a:cs typeface="Century Gothic Paneuropean"/>
                <a:sym typeface="Century Gothic Paneuropean"/>
              </a:rPr>
              <a:t>Obese ≥30.</a:t>
            </a:r>
          </a:p>
          <a:p>
            <a:pPr algn="l">
              <a:lnSpc>
                <a:spcPts val="3919"/>
              </a:lnSpc>
            </a:pPr>
            <a:endParaRPr lang="en-US" sz="2799" dirty="0">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35441" y="1111352"/>
            <a:ext cx="12130193" cy="614927"/>
          </a:xfrm>
          <a:prstGeom prst="rect">
            <a:avLst/>
          </a:prstGeom>
        </p:spPr>
        <p:txBody>
          <a:bodyPr lIns="0" tIns="0" rIns="0" bIns="0" rtlCol="0" anchor="t">
            <a:spAutoFit/>
          </a:bodyPr>
          <a:lstStyle/>
          <a:p>
            <a:pPr algn="l">
              <a:lnSpc>
                <a:spcPts val="4956"/>
              </a:lnSpc>
            </a:pPr>
            <a:r>
              <a:rPr lang="en-US" sz="3540" b="1" dirty="0">
                <a:solidFill>
                  <a:srgbClr val="000000"/>
                </a:solidFill>
                <a:latin typeface="Century Gothic Paneuropean Bold"/>
                <a:ea typeface="Century Gothic Paneuropean Bold"/>
                <a:cs typeface="Century Gothic Paneuropean Bold"/>
                <a:sym typeface="Century Gothic Paneuropean Bold"/>
              </a:rPr>
              <a:t>Circuit Construction :</a:t>
            </a:r>
          </a:p>
        </p:txBody>
      </p:sp>
      <p:sp>
        <p:nvSpPr>
          <p:cNvPr id="3" name="TextBox 3"/>
          <p:cNvSpPr txBox="1"/>
          <p:nvPr/>
        </p:nvSpPr>
        <p:spPr>
          <a:xfrm>
            <a:off x="2017615" y="1909865"/>
            <a:ext cx="14793128" cy="11275331"/>
          </a:xfrm>
          <a:prstGeom prst="rect">
            <a:avLst/>
          </a:prstGeom>
        </p:spPr>
        <p:txBody>
          <a:bodyPr lIns="0" tIns="0" rIns="0" bIns="0" rtlCol="0" anchor="t">
            <a:spAutoFit/>
          </a:bodyPr>
          <a:lstStyle/>
          <a:p>
            <a:pPr algn="l">
              <a:lnSpc>
                <a:spcPts val="4200"/>
              </a:lnSpc>
            </a:pPr>
            <a:r>
              <a:rPr lang="en-US" sz="2800" dirty="0">
                <a:solidFill>
                  <a:srgbClr val="000000"/>
                </a:solidFill>
                <a:latin typeface="Century Gothic Paneuropean"/>
                <a:ea typeface="Century Gothic Paneuropean"/>
                <a:cs typeface="Century Gothic Paneuropean"/>
                <a:sym typeface="Century Gothic Paneuropean"/>
              </a:rPr>
              <a:t>I</a:t>
            </a:r>
            <a:r>
              <a:rPr lang="en-US" sz="2800" b="1" dirty="0">
                <a:solidFill>
                  <a:srgbClr val="000000"/>
                </a:solidFill>
                <a:latin typeface="Century Gothic Paneuropean Bold"/>
                <a:ea typeface="Century Gothic Paneuropean Bold"/>
                <a:cs typeface="Century Gothic Paneuropean Bold"/>
                <a:sym typeface="Century Gothic Paneuropean Bold"/>
              </a:rPr>
              <a:t>nputs (Height &amp; Weight):</a:t>
            </a:r>
          </a:p>
          <a:p>
            <a:pPr marL="647700" lvl="1" indent="-323850" algn="l">
              <a:lnSpc>
                <a:spcPts val="4200"/>
              </a:lnSpc>
              <a:buFont typeface="Arial"/>
              <a:buChar char="•"/>
            </a:pPr>
            <a:r>
              <a:rPr lang="en-US" sz="2800" dirty="0">
                <a:solidFill>
                  <a:srgbClr val="000000"/>
                </a:solidFill>
                <a:latin typeface="Century Gothic Paneuropean"/>
                <a:ea typeface="Century Gothic Paneuropean"/>
                <a:cs typeface="Century Gothic Paneuropean"/>
                <a:sym typeface="Century Gothic Paneuropean"/>
              </a:rPr>
              <a:t>Use 4 toggle switches to represent H1, H0, W1, W0.</a:t>
            </a:r>
          </a:p>
          <a:p>
            <a:pPr marL="647700" lvl="1" indent="-323850" algn="l">
              <a:lnSpc>
                <a:spcPts val="4200"/>
              </a:lnSpc>
              <a:buFont typeface="Arial"/>
              <a:buChar char="•"/>
            </a:pPr>
            <a:r>
              <a:rPr lang="en-US" sz="2800" dirty="0">
                <a:solidFill>
                  <a:srgbClr val="000000"/>
                </a:solidFill>
                <a:latin typeface="Century Gothic Paneuropean"/>
                <a:ea typeface="Century Gothic Paneuropean"/>
                <a:cs typeface="Century Gothic Paneuropean"/>
                <a:sym typeface="Century Gothic Paneuropean"/>
              </a:rPr>
              <a:t>These switches are connected as inputs to the 4-to-16 decoder(Not gates + active low decoder).</a:t>
            </a:r>
          </a:p>
          <a:p>
            <a:pPr algn="l">
              <a:lnSpc>
                <a:spcPts val="4200"/>
              </a:lnSpc>
            </a:pPr>
            <a:r>
              <a:rPr lang="en-US" sz="2800" b="1" dirty="0">
                <a:solidFill>
                  <a:srgbClr val="000000"/>
                </a:solidFill>
                <a:latin typeface="Century Gothic Paneuropean Bold"/>
                <a:ea typeface="Century Gothic Paneuropean Bold"/>
                <a:cs typeface="Century Gothic Paneuropean Bold"/>
                <a:sym typeface="Century Gothic Paneuropean Bold"/>
              </a:rPr>
              <a:t>Decoder setup (4-to-16):</a:t>
            </a:r>
          </a:p>
          <a:p>
            <a:pPr marL="647700" lvl="1" indent="-323850" algn="l">
              <a:lnSpc>
                <a:spcPts val="4200"/>
              </a:lnSpc>
              <a:buFont typeface="Arial"/>
              <a:buChar char="•"/>
            </a:pPr>
            <a:r>
              <a:rPr lang="en-US" sz="2800" dirty="0">
                <a:solidFill>
                  <a:srgbClr val="000000"/>
                </a:solidFill>
                <a:latin typeface="Century Gothic Paneuropean"/>
                <a:ea typeface="Century Gothic Paneuropean"/>
                <a:cs typeface="Century Gothic Paneuropean"/>
                <a:sym typeface="Century Gothic Paneuropean"/>
              </a:rPr>
              <a:t>The 4-to-16 decoder generates 16 unique outputs (D0–D15) for each Height–Weight combination.</a:t>
            </a:r>
          </a:p>
          <a:p>
            <a:pPr marL="647700" lvl="1" indent="-323850" algn="l">
              <a:lnSpc>
                <a:spcPts val="4200"/>
              </a:lnSpc>
              <a:buFont typeface="Arial"/>
              <a:buChar char="•"/>
            </a:pPr>
            <a:r>
              <a:rPr lang="en-US" sz="2800" dirty="0">
                <a:solidFill>
                  <a:srgbClr val="000000"/>
                </a:solidFill>
                <a:latin typeface="Century Gothic Paneuropean"/>
                <a:ea typeface="Century Gothic Paneuropean"/>
                <a:cs typeface="Century Gothic Paneuropean"/>
                <a:sym typeface="Century Gothic Paneuropean"/>
              </a:rPr>
              <a:t>Each output corresponds to a pre-defined BMI value.</a:t>
            </a:r>
          </a:p>
          <a:p>
            <a:pPr algn="l">
              <a:lnSpc>
                <a:spcPts val="4200"/>
              </a:lnSpc>
            </a:pPr>
            <a:r>
              <a:rPr lang="en-US" sz="2800" b="1" dirty="0">
                <a:solidFill>
                  <a:srgbClr val="000000"/>
                </a:solidFill>
                <a:latin typeface="Century Gothic Paneuropean Bold"/>
                <a:ea typeface="Century Gothic Paneuropean Bold"/>
                <a:cs typeface="Century Gothic Paneuropean Bold"/>
                <a:sym typeface="Century Gothic Paneuropean Bold"/>
              </a:rPr>
              <a:t>Logic generation (BMI Code):</a:t>
            </a:r>
          </a:p>
          <a:p>
            <a:pPr marL="647700" lvl="1" indent="-323850" algn="l">
              <a:lnSpc>
                <a:spcPts val="4200"/>
              </a:lnSpc>
              <a:buFont typeface="Arial"/>
              <a:buChar char="•"/>
            </a:pPr>
            <a:r>
              <a:rPr lang="en-US" sz="2800" dirty="0">
                <a:solidFill>
                  <a:srgbClr val="000000"/>
                </a:solidFill>
                <a:latin typeface="Century Gothic Paneuropean"/>
                <a:ea typeface="Century Gothic Paneuropean"/>
                <a:cs typeface="Century Gothic Paneuropean"/>
                <a:sym typeface="Century Gothic Paneuropean"/>
              </a:rPr>
              <a:t>Use OR gates to combine decoder outputs as per BMI category equations:</a:t>
            </a:r>
          </a:p>
          <a:p>
            <a:pPr marL="1295400" lvl="2" indent="-431800" algn="l">
              <a:lnSpc>
                <a:spcPts val="4200"/>
              </a:lnSpc>
              <a:buFont typeface="Arial"/>
              <a:buChar char="⚬"/>
            </a:pPr>
            <a:r>
              <a:rPr lang="en-US" sz="2800" b="1" dirty="0">
                <a:solidFill>
                  <a:srgbClr val="000000"/>
                </a:solidFill>
                <a:latin typeface="Century Gothic Paneuropean Bold"/>
                <a:ea typeface="Century Gothic Paneuropean Bold"/>
                <a:cs typeface="Century Gothic Paneuropean Bold"/>
                <a:sym typeface="Century Gothic Paneuropean Bold"/>
              </a:rPr>
              <a:t>Bit1 = D2 + D3 + D6 + D7 + D11 + D15</a:t>
            </a:r>
          </a:p>
          <a:p>
            <a:pPr marL="1295400" lvl="2" indent="-431800" algn="l">
              <a:lnSpc>
                <a:spcPts val="4200"/>
              </a:lnSpc>
              <a:buFont typeface="Arial"/>
              <a:buChar char="⚬"/>
            </a:pPr>
            <a:r>
              <a:rPr lang="en-US" sz="2800" b="1" dirty="0">
                <a:solidFill>
                  <a:srgbClr val="000000"/>
                </a:solidFill>
                <a:latin typeface="Century Gothic Paneuropean Bold"/>
                <a:ea typeface="Century Gothic Paneuropean Bold"/>
                <a:cs typeface="Century Gothic Paneuropean Bold"/>
                <a:sym typeface="Century Gothic Paneuropean Bold"/>
              </a:rPr>
              <a:t>Bit0 = D0 + D1 + D2 + D3 + D5 + D7 + D9 + D10 + D14</a:t>
            </a:r>
          </a:p>
          <a:p>
            <a:pPr algn="l">
              <a:lnSpc>
                <a:spcPts val="4200"/>
              </a:lnSpc>
            </a:pPr>
            <a:r>
              <a:rPr lang="en-US" sz="2800" b="1" dirty="0">
                <a:solidFill>
                  <a:srgbClr val="000000"/>
                </a:solidFill>
                <a:latin typeface="Century Gothic Paneuropean Bold"/>
                <a:ea typeface="Century Gothic Paneuropean Bold"/>
                <a:cs typeface="Century Gothic Paneuropean Bold"/>
                <a:sym typeface="Century Gothic Paneuropean Bold"/>
              </a:rPr>
              <a:t>Category Decoder (2-to-4):</a:t>
            </a:r>
          </a:p>
          <a:p>
            <a:pPr algn="l">
              <a:lnSpc>
                <a:spcPts val="4200"/>
              </a:lnSpc>
            </a:pPr>
            <a:r>
              <a:rPr lang="en-US" sz="2800" b="1" dirty="0">
                <a:solidFill>
                  <a:srgbClr val="000000"/>
                </a:solidFill>
                <a:latin typeface="Century Gothic Paneuropean Bold"/>
                <a:ea typeface="Century Gothic Paneuropean Bold"/>
                <a:cs typeface="Century Gothic Paneuropean Bold"/>
                <a:sym typeface="Century Gothic Paneuropean Bold"/>
              </a:rPr>
              <a:t>      </a:t>
            </a:r>
            <a:r>
              <a:rPr lang="en-US" sz="2800" dirty="0">
                <a:solidFill>
                  <a:srgbClr val="000000"/>
                </a:solidFill>
                <a:latin typeface="Century Gothic Paneuropean"/>
                <a:ea typeface="Century Gothic Paneuropean"/>
                <a:cs typeface="Century Gothic Paneuropean"/>
                <a:sym typeface="Century Gothic Paneuropean"/>
              </a:rPr>
              <a:t>Connect Bit1 and Bit0 as inputs to the 2-to-4 decoder.</a:t>
            </a:r>
          </a:p>
          <a:p>
            <a:pPr algn="l">
              <a:lnSpc>
                <a:spcPts val="4200"/>
              </a:lnSpc>
            </a:pPr>
            <a:r>
              <a:rPr lang="en-US" sz="2800" dirty="0">
                <a:solidFill>
                  <a:srgbClr val="000000"/>
                </a:solidFill>
                <a:latin typeface="Century Gothic Paneuropean"/>
                <a:ea typeface="Century Gothic Paneuropean"/>
                <a:cs typeface="Century Gothic Paneuropean"/>
                <a:sym typeface="Century Gothic Paneuropean"/>
              </a:rPr>
              <a:t>       The decoder generates one-hot outputs, activating only one line at a time.</a:t>
            </a:r>
          </a:p>
          <a:p>
            <a:pPr algn="l">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a:p>
            <a:pPr algn="l">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a:p>
            <a:pPr algn="l">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a:p>
            <a:pPr algn="l">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a:p>
            <a:pPr algn="l">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a:p>
            <a:pPr algn="l">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10077742"/>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51907"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9352" y="3195371"/>
            <a:ext cx="8537178" cy="1225550"/>
          </a:xfrm>
          <a:prstGeom prst="rect">
            <a:avLst/>
          </a:prstGeom>
        </p:spPr>
        <p:txBody>
          <a:bodyPr lIns="0" tIns="0" rIns="0" bIns="0" rtlCol="0" anchor="t">
            <a:spAutoFit/>
          </a:bodyPr>
          <a:lstStyle/>
          <a:p>
            <a:pPr algn="ctr">
              <a:lnSpc>
                <a:spcPts val="4900"/>
              </a:lnSpc>
            </a:pPr>
            <a:r>
              <a:rPr lang="en-US" sz="3500" b="1">
                <a:solidFill>
                  <a:srgbClr val="000000"/>
                </a:solidFill>
                <a:latin typeface="Century Gothic Paneuropean Bold"/>
                <a:ea typeface="Century Gothic Paneuropean Bold"/>
                <a:cs typeface="Century Gothic Paneuropean Bold"/>
                <a:sym typeface="Century Gothic Paneuropean Bold"/>
              </a:rPr>
              <a:t>OUTPUT &amp; TESTING :</a:t>
            </a:r>
          </a:p>
          <a:p>
            <a:pPr algn="ctr">
              <a:lnSpc>
                <a:spcPts val="4900"/>
              </a:lnSpc>
            </a:pPr>
            <a:endParaRPr lang="en-US" sz="3500" b="1">
              <a:solidFill>
                <a:srgbClr val="000000"/>
              </a:solidFill>
              <a:latin typeface="Century Gothic Paneuropean Bold"/>
              <a:ea typeface="Century Gothic Paneuropean Bold"/>
              <a:cs typeface="Century Gothic Paneuropean Bold"/>
              <a:sym typeface="Century Gothic Paneuropean Bold"/>
            </a:endParaRPr>
          </a:p>
        </p:txBody>
      </p:sp>
      <p:sp>
        <p:nvSpPr>
          <p:cNvPr id="3" name="TextBox 3"/>
          <p:cNvSpPr txBox="1"/>
          <p:nvPr/>
        </p:nvSpPr>
        <p:spPr>
          <a:xfrm>
            <a:off x="2383182" y="4196933"/>
            <a:ext cx="12130193" cy="3453130"/>
          </a:xfrm>
          <a:prstGeom prst="rect">
            <a:avLst/>
          </a:prstGeom>
        </p:spPr>
        <p:txBody>
          <a:bodyPr lIns="0" tIns="0" rIns="0" bIns="0" rtlCol="0" anchor="t">
            <a:spAutoFit/>
          </a:bodyPr>
          <a:lstStyle/>
          <a:p>
            <a:pPr algn="l">
              <a:lnSpc>
                <a:spcPts val="3919"/>
              </a:lnSpc>
            </a:pPr>
            <a:r>
              <a:rPr lang="en-US" sz="2799">
                <a:solidFill>
                  <a:srgbClr val="000000"/>
                </a:solidFill>
                <a:latin typeface="Century Gothic Paneuropean"/>
                <a:ea typeface="Century Gothic Paneuropean"/>
                <a:cs typeface="Century Gothic Paneuropean"/>
                <a:sym typeface="Century Gothic Paneuropean"/>
              </a:rPr>
              <a:t>Expected Output (BMI Code → LED)</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00 → Underweight LED ON</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01 → Normal LED ON</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10 → Overweight LED ON</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11 → Obese LED ON</a:t>
            </a:r>
          </a:p>
          <a:p>
            <a:pPr algn="l">
              <a:lnSpc>
                <a:spcPts val="3919"/>
              </a:lnSpc>
            </a:pPr>
            <a:r>
              <a:rPr lang="en-US" sz="2799">
                <a:solidFill>
                  <a:srgbClr val="000000"/>
                </a:solidFill>
                <a:latin typeface="Century Gothic Paneuropean"/>
                <a:ea typeface="Century Gothic Paneuropean"/>
                <a:cs typeface="Century Gothic Paneuropean"/>
                <a:sym typeface="Century Gothic Paneuropean"/>
              </a:rPr>
              <a:t>The system was tested with various input combinations to verify accurateness.</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2175399" y="971550"/>
            <a:ext cx="14543543" cy="1967230"/>
          </a:xfrm>
          <a:prstGeom prst="rect">
            <a:avLst/>
          </a:prstGeom>
        </p:spPr>
        <p:txBody>
          <a:bodyPr lIns="0" tIns="0" rIns="0" bIns="0" rtlCol="0" anchor="t">
            <a:spAutoFit/>
          </a:bodyPr>
          <a:lstStyle/>
          <a:p>
            <a:pPr algn="l">
              <a:lnSpc>
                <a:spcPts val="3919"/>
              </a:lnSpc>
            </a:pPr>
            <a:r>
              <a:rPr lang="en-US" sz="2799" b="1">
                <a:solidFill>
                  <a:srgbClr val="000000"/>
                </a:solidFill>
                <a:latin typeface="Century Gothic Paneuropean Bold"/>
                <a:ea typeface="Century Gothic Paneuropean Bold"/>
                <a:cs typeface="Century Gothic Paneuropean Bold"/>
                <a:sym typeface="Century Gothic Paneuropean Bold"/>
              </a:rPr>
              <a:t>Power supply:</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Connect all ICs (decoder) to +5V (Vcc) and GND.</a:t>
            </a:r>
          </a:p>
          <a:p>
            <a:pPr marL="604519" lvl="1" indent="-302260" algn="l">
              <a:lnSpc>
                <a:spcPts val="3919"/>
              </a:lnSpc>
              <a:buFont typeface="Arial"/>
              <a:buChar char="•"/>
            </a:pPr>
            <a:r>
              <a:rPr lang="en-US" sz="2799">
                <a:solidFill>
                  <a:srgbClr val="000000"/>
                </a:solidFill>
                <a:latin typeface="Century Gothic Paneuropean"/>
                <a:ea typeface="Century Gothic Paneuropean"/>
                <a:cs typeface="Century Gothic Paneuropean"/>
                <a:sym typeface="Century Gothic Paneuropean"/>
              </a:rPr>
              <a:t>Connect toggle switches to Vcc for logic HIGH (1) and to GND for logic LOW (0).</a:t>
            </a:r>
          </a:p>
          <a:p>
            <a:pPr algn="l">
              <a:lnSpc>
                <a:spcPts val="3919"/>
              </a:lnSpc>
            </a:pPr>
            <a:endParaRPr lang="en-US" sz="279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1875" y="393422"/>
            <a:ext cx="8537178"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TRUTH TABLE :</a:t>
            </a:r>
          </a:p>
        </p:txBody>
      </p:sp>
      <p:grpSp>
        <p:nvGrpSpPr>
          <p:cNvPr id="3" name="Group 3"/>
          <p:cNvGrpSpPr/>
          <p:nvPr/>
        </p:nvGrpSpPr>
        <p:grpSpPr>
          <a:xfrm>
            <a:off x="17736637"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923795"/>
            <a:ext cx="19346704" cy="701965"/>
            <a:chOff x="0" y="0"/>
            <a:chExt cx="5095428" cy="184880"/>
          </a:xfrm>
        </p:grpSpPr>
        <p:sp>
          <p:nvSpPr>
            <p:cNvPr id="7" name="Freeform 7"/>
            <p:cNvSpPr/>
            <p:nvPr/>
          </p:nvSpPr>
          <p:spPr>
            <a:xfrm>
              <a:off x="0" y="0"/>
              <a:ext cx="5095428" cy="184880"/>
            </a:xfrm>
            <a:custGeom>
              <a:avLst/>
              <a:gdLst/>
              <a:ahLst/>
              <a:cxnLst/>
              <a:rect l="l" t="t" r="r" b="b"/>
              <a:pathLst>
                <a:path w="5095428" h="184880">
                  <a:moveTo>
                    <a:pt x="20409" y="0"/>
                  </a:moveTo>
                  <a:lnTo>
                    <a:pt x="5075020" y="0"/>
                  </a:lnTo>
                  <a:cubicBezTo>
                    <a:pt x="5086291" y="0"/>
                    <a:pt x="5095428" y="9137"/>
                    <a:pt x="5095428" y="20409"/>
                  </a:cubicBezTo>
                  <a:lnTo>
                    <a:pt x="5095428" y="164471"/>
                  </a:lnTo>
                  <a:cubicBezTo>
                    <a:pt x="5095428" y="169884"/>
                    <a:pt x="5093278" y="175075"/>
                    <a:pt x="5089451" y="178902"/>
                  </a:cubicBezTo>
                  <a:cubicBezTo>
                    <a:pt x="5085623" y="182729"/>
                    <a:pt x="5080432" y="184880"/>
                    <a:pt x="5075020" y="184880"/>
                  </a:cubicBezTo>
                  <a:lnTo>
                    <a:pt x="20409" y="184880"/>
                  </a:lnTo>
                  <a:cubicBezTo>
                    <a:pt x="14996" y="184880"/>
                    <a:pt x="9805" y="182729"/>
                    <a:pt x="5978" y="178902"/>
                  </a:cubicBezTo>
                  <a:cubicBezTo>
                    <a:pt x="2150" y="175075"/>
                    <a:pt x="0" y="169884"/>
                    <a:pt x="0" y="164471"/>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8" name="TextBox 8"/>
            <p:cNvSpPr txBox="1"/>
            <p:nvPr/>
          </p:nvSpPr>
          <p:spPr>
            <a:xfrm>
              <a:off x="0" y="-38100"/>
              <a:ext cx="5095428" cy="22298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6280361" y="612721"/>
            <a:ext cx="10676356" cy="9061557"/>
          </a:xfrm>
          <a:custGeom>
            <a:avLst/>
            <a:gdLst/>
            <a:ahLst/>
            <a:cxnLst/>
            <a:rect l="l" t="t" r="r" b="b"/>
            <a:pathLst>
              <a:path w="10676356" h="9061557">
                <a:moveTo>
                  <a:pt x="0" y="0"/>
                </a:moveTo>
                <a:lnTo>
                  <a:pt x="10676356" y="0"/>
                </a:lnTo>
                <a:lnTo>
                  <a:pt x="10676356" y="9061558"/>
                </a:lnTo>
                <a:lnTo>
                  <a:pt x="0" y="9061558"/>
                </a:lnTo>
                <a:lnTo>
                  <a:pt x="0" y="0"/>
                </a:lnTo>
                <a:close/>
              </a:path>
            </a:pathLst>
          </a:custGeom>
          <a:blipFill>
            <a:blip r:embed="rId4"/>
            <a:stretch>
              <a:fillRect/>
            </a:stretch>
          </a:blipFill>
        </p:spPr>
        <p:txBody>
          <a:bodyPr/>
          <a:lstStyle/>
          <a:p>
            <a:endParaRPr lang="en-IN"/>
          </a:p>
        </p:txBody>
      </p:sp>
      <p:sp>
        <p:nvSpPr>
          <p:cNvPr id="15" name="TextBox 15"/>
          <p:cNvSpPr txBox="1"/>
          <p:nvPr/>
        </p:nvSpPr>
        <p:spPr>
          <a:xfrm>
            <a:off x="1953463" y="3753341"/>
            <a:ext cx="3405560" cy="2114550"/>
          </a:xfrm>
          <a:prstGeom prst="rect">
            <a:avLst/>
          </a:prstGeom>
        </p:spPr>
        <p:txBody>
          <a:bodyPr lIns="0" tIns="0" rIns="0" bIns="0" rtlCol="0" anchor="t">
            <a:spAutoFit/>
          </a:bodyPr>
          <a:lstStyle/>
          <a:p>
            <a:pPr algn="l">
              <a:lnSpc>
                <a:spcPts val="4200"/>
              </a:lnSpc>
            </a:pPr>
            <a:r>
              <a:rPr lang="en-US" sz="3000">
                <a:solidFill>
                  <a:srgbClr val="000000"/>
                </a:solidFill>
                <a:latin typeface="Open Sans"/>
                <a:ea typeface="Open Sans"/>
                <a:cs typeface="Open Sans"/>
                <a:sym typeface="Open Sans"/>
              </a:rPr>
              <a:t>00 → Underweight,</a:t>
            </a:r>
          </a:p>
          <a:p>
            <a:pPr algn="l">
              <a:lnSpc>
                <a:spcPts val="4200"/>
              </a:lnSpc>
              <a:spcBef>
                <a:spcPct val="0"/>
              </a:spcBef>
            </a:pPr>
            <a:r>
              <a:rPr lang="en-US" sz="3000">
                <a:solidFill>
                  <a:srgbClr val="000000"/>
                </a:solidFill>
                <a:latin typeface="Open Sans"/>
                <a:ea typeface="Open Sans"/>
                <a:cs typeface="Open Sans"/>
                <a:sym typeface="Open Sans"/>
              </a:rPr>
              <a:t>01 → Normal, </a:t>
            </a:r>
          </a:p>
          <a:p>
            <a:pPr algn="l">
              <a:lnSpc>
                <a:spcPts val="4200"/>
              </a:lnSpc>
              <a:spcBef>
                <a:spcPct val="0"/>
              </a:spcBef>
            </a:pPr>
            <a:r>
              <a:rPr lang="en-US" sz="3000">
                <a:solidFill>
                  <a:srgbClr val="000000"/>
                </a:solidFill>
                <a:latin typeface="Open Sans"/>
                <a:ea typeface="Open Sans"/>
                <a:cs typeface="Open Sans"/>
                <a:sym typeface="Open Sans"/>
              </a:rPr>
              <a:t>10 → Overweight,</a:t>
            </a:r>
          </a:p>
          <a:p>
            <a:pPr algn="l">
              <a:lnSpc>
                <a:spcPts val="4200"/>
              </a:lnSpc>
              <a:spcBef>
                <a:spcPct val="0"/>
              </a:spcBef>
            </a:pPr>
            <a:r>
              <a:rPr lang="en-US" sz="3000">
                <a:solidFill>
                  <a:srgbClr val="000000"/>
                </a:solidFill>
                <a:latin typeface="Open Sans"/>
                <a:ea typeface="Open Sans"/>
                <a:cs typeface="Open Sans"/>
                <a:sym typeface="Open Sans"/>
              </a:rPr>
              <a:t>11 → Obese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8893" y="1636314"/>
            <a:ext cx="8537178"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LOGIC EXPRESSION :</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884621" y="3337250"/>
            <a:ext cx="13834321" cy="4471670"/>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a:solidFill>
                  <a:srgbClr val="000000"/>
                </a:solidFill>
                <a:latin typeface="Open Sans"/>
                <a:ea typeface="Open Sans"/>
                <a:cs typeface="Open Sans"/>
                <a:sym typeface="Open Sans"/>
              </a:rPr>
              <a:t>Bit1 = D2 + D3 + D6 + D7 + D11 + D15</a:t>
            </a:r>
          </a:p>
          <a:p>
            <a:pPr marL="690881" lvl="1" indent="-345440" algn="l">
              <a:lnSpc>
                <a:spcPts val="4480"/>
              </a:lnSpc>
              <a:spcBef>
                <a:spcPct val="0"/>
              </a:spcBef>
              <a:buFont typeface="Arial"/>
              <a:buChar char="•"/>
            </a:pPr>
            <a:r>
              <a:rPr lang="en-US" sz="3200">
                <a:solidFill>
                  <a:srgbClr val="000000"/>
                </a:solidFill>
                <a:latin typeface="Open Sans"/>
                <a:ea typeface="Open Sans"/>
                <a:cs typeface="Open Sans"/>
                <a:sym typeface="Open Sans"/>
              </a:rPr>
              <a:t>Bit0 = D0 + D1 + D2 + D3 + D5 + D7 + D9 + D10 + D14</a:t>
            </a:r>
          </a:p>
          <a:p>
            <a:pPr marL="690881" lvl="1" indent="-345440" algn="l">
              <a:lnSpc>
                <a:spcPts val="4480"/>
              </a:lnSpc>
              <a:spcBef>
                <a:spcPct val="0"/>
              </a:spcBef>
              <a:buFont typeface="Arial"/>
              <a:buChar char="•"/>
            </a:pPr>
            <a:r>
              <a:rPr lang="en-US" sz="3200">
                <a:solidFill>
                  <a:srgbClr val="000000"/>
                </a:solidFill>
                <a:latin typeface="Open Sans"/>
                <a:ea typeface="Open Sans"/>
                <a:cs typeface="Open Sans"/>
                <a:sym typeface="Open Sans"/>
              </a:rPr>
              <a:t>Underweight (Y0) = ~Bit1 · ~Bit0</a:t>
            </a:r>
          </a:p>
          <a:p>
            <a:pPr marL="690881" lvl="1" indent="-345440" algn="l">
              <a:lnSpc>
                <a:spcPts val="4480"/>
              </a:lnSpc>
              <a:spcBef>
                <a:spcPct val="0"/>
              </a:spcBef>
              <a:buFont typeface="Arial"/>
              <a:buChar char="•"/>
            </a:pPr>
            <a:r>
              <a:rPr lang="en-US" sz="3200">
                <a:solidFill>
                  <a:srgbClr val="000000"/>
                </a:solidFill>
                <a:latin typeface="Open Sans"/>
                <a:ea typeface="Open Sans"/>
                <a:cs typeface="Open Sans"/>
                <a:sym typeface="Open Sans"/>
              </a:rPr>
              <a:t>Normal (Y1) = ~Bit1 · Bit0</a:t>
            </a:r>
          </a:p>
          <a:p>
            <a:pPr marL="690881" lvl="1" indent="-345440" algn="l">
              <a:lnSpc>
                <a:spcPts val="4480"/>
              </a:lnSpc>
              <a:spcBef>
                <a:spcPct val="0"/>
              </a:spcBef>
              <a:buFont typeface="Arial"/>
              <a:buChar char="•"/>
            </a:pPr>
            <a:r>
              <a:rPr lang="en-US" sz="3200">
                <a:solidFill>
                  <a:srgbClr val="000000"/>
                </a:solidFill>
                <a:latin typeface="Open Sans"/>
                <a:ea typeface="Open Sans"/>
                <a:cs typeface="Open Sans"/>
                <a:sym typeface="Open Sans"/>
              </a:rPr>
              <a:t>Overweight (Y2) = Bit1 · ~Bit0</a:t>
            </a:r>
          </a:p>
          <a:p>
            <a:pPr marL="690881" lvl="1" indent="-345440" algn="l">
              <a:lnSpc>
                <a:spcPts val="4480"/>
              </a:lnSpc>
              <a:spcBef>
                <a:spcPct val="0"/>
              </a:spcBef>
              <a:buFont typeface="Arial"/>
              <a:buChar char="•"/>
            </a:pPr>
            <a:r>
              <a:rPr lang="en-US" sz="3200">
                <a:solidFill>
                  <a:srgbClr val="000000"/>
                </a:solidFill>
                <a:latin typeface="Open Sans"/>
                <a:ea typeface="Open Sans"/>
                <a:cs typeface="Open Sans"/>
                <a:sym typeface="Open Sans"/>
              </a:rPr>
              <a:t>Obese (Y3) = Bit1 · Bit0</a:t>
            </a:r>
          </a:p>
          <a:p>
            <a:pPr algn="l">
              <a:lnSpc>
                <a:spcPts val="4480"/>
              </a:lnSpc>
              <a:spcBef>
                <a:spcPct val="0"/>
              </a:spcBef>
            </a:pPr>
            <a:endParaRPr lang="en-US" sz="3200">
              <a:solidFill>
                <a:srgbClr val="000000"/>
              </a:solidFill>
              <a:latin typeface="Open Sans"/>
              <a:ea typeface="Open Sans"/>
              <a:cs typeface="Open Sans"/>
              <a:sym typeface="Open Sans"/>
            </a:endParaRPr>
          </a:p>
          <a:p>
            <a:pPr algn="l">
              <a:lnSpc>
                <a:spcPts val="4480"/>
              </a:lnSpc>
              <a:spcBef>
                <a:spcPct val="0"/>
              </a:spcBef>
            </a:pPr>
            <a:endParaRPr lang="en-US" sz="3200">
              <a:solidFill>
                <a:srgbClr val="000000"/>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1139" y="933450"/>
            <a:ext cx="10511727" cy="854075"/>
          </a:xfrm>
          <a:prstGeom prst="rect">
            <a:avLst/>
          </a:prstGeom>
        </p:spPr>
        <p:txBody>
          <a:bodyPr lIns="0" tIns="0" rIns="0" bIns="0" rtlCol="0" anchor="t">
            <a:spAutoFit/>
          </a:bodyPr>
          <a:lstStyle/>
          <a:p>
            <a:pPr algn="ctr">
              <a:lnSpc>
                <a:spcPts val="7000"/>
              </a:lnSpc>
            </a:pPr>
            <a:r>
              <a:rPr lang="en-US" sz="5000" b="1" dirty="0">
                <a:solidFill>
                  <a:srgbClr val="000000"/>
                </a:solidFill>
                <a:latin typeface="Century Gothic Paneuropean Bold"/>
                <a:ea typeface="Century Gothic Paneuropean Bold"/>
                <a:cs typeface="Century Gothic Paneuropean Bold"/>
                <a:sym typeface="Century Gothic Paneuropean Bold"/>
              </a:rPr>
              <a:t>CIRCUIT DIAGRAM :</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2590800" y="1889313"/>
            <a:ext cx="14066318" cy="7583352"/>
          </a:xfrm>
          <a:custGeom>
            <a:avLst/>
            <a:gdLst/>
            <a:ahLst/>
            <a:cxnLst/>
            <a:rect l="l" t="t" r="r" b="b"/>
            <a:pathLst>
              <a:path w="14066318" h="7583352">
                <a:moveTo>
                  <a:pt x="0" y="0"/>
                </a:moveTo>
                <a:lnTo>
                  <a:pt x="14066318" y="0"/>
                </a:lnTo>
                <a:lnTo>
                  <a:pt x="14066318" y="7583352"/>
                </a:lnTo>
                <a:lnTo>
                  <a:pt x="0" y="7583352"/>
                </a:lnTo>
                <a:lnTo>
                  <a:pt x="0" y="0"/>
                </a:lnTo>
                <a:close/>
              </a:path>
            </a:pathLst>
          </a:custGeom>
          <a:blipFill>
            <a:blip r:embed="rId4"/>
            <a:stretch>
              <a:fillRect t="-3782" b="-1250"/>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04F7-6E7D-1B73-4BA9-6D9A541A0A3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ED54FC08-3A68-A16A-49CE-38DFECA60852}"/>
              </a:ext>
            </a:extLst>
          </p:cNvPr>
          <p:cNvSpPr txBox="1"/>
          <p:nvPr/>
        </p:nvSpPr>
        <p:spPr>
          <a:xfrm>
            <a:off x="-281139" y="933450"/>
            <a:ext cx="10511727" cy="854075"/>
          </a:xfrm>
          <a:prstGeom prst="rect">
            <a:avLst/>
          </a:prstGeom>
        </p:spPr>
        <p:txBody>
          <a:bodyPr lIns="0" tIns="0" rIns="0" bIns="0" rtlCol="0" anchor="t">
            <a:spAutoFit/>
          </a:bodyPr>
          <a:lstStyle/>
          <a:p>
            <a:pPr algn="ctr">
              <a:lnSpc>
                <a:spcPts val="7000"/>
              </a:lnSpc>
            </a:pPr>
            <a:r>
              <a:rPr lang="en-US" sz="5000" b="1" dirty="0">
                <a:solidFill>
                  <a:srgbClr val="000000"/>
                </a:solidFill>
                <a:latin typeface="Century Gothic Paneuropean Bold"/>
                <a:ea typeface="Century Gothic Paneuropean Bold"/>
                <a:cs typeface="Century Gothic Paneuropean Bold"/>
                <a:sym typeface="Century Gothic Paneuropean Bold"/>
              </a:rPr>
              <a:t>Real time circuit :</a:t>
            </a:r>
          </a:p>
        </p:txBody>
      </p:sp>
      <p:grpSp>
        <p:nvGrpSpPr>
          <p:cNvPr id="3" name="Group 3">
            <a:extLst>
              <a:ext uri="{FF2B5EF4-FFF2-40B4-BE49-F238E27FC236}">
                <a16:creationId xmlns:a16="http://schemas.microsoft.com/office/drawing/2014/main" id="{DF17296F-C4E7-3D7B-37DD-CF918B4D84A3}"/>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5999714B-63F1-7948-C556-4497D706E789}"/>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05438D0F-AB48-34A2-B48A-D26912679E4B}"/>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DDCFD843-B41F-28F6-5954-8E6E69AA142A}"/>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9B222D26-B9DA-69CF-C89F-BA3D69C0FF93}"/>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2C33FBE5-34AA-A52A-1B6C-0CFBCF1C482F}"/>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655A7DA-68B4-EE0F-CA7E-399245370106}"/>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FD72EB17-879B-B659-B34F-E27FA1A29994}"/>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D7429720-71EA-773B-A25C-94602BE844ED}"/>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438B884E-224F-3033-FD04-06E4FB9EF124}"/>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4DDA2D3E-E9A9-587C-3C57-CF404F45FEFD}"/>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pic>
        <p:nvPicPr>
          <p:cNvPr id="16" name="Picture 15">
            <a:extLst>
              <a:ext uri="{FF2B5EF4-FFF2-40B4-BE49-F238E27FC236}">
                <a16:creationId xmlns:a16="http://schemas.microsoft.com/office/drawing/2014/main" id="{1EC93B84-108A-77F2-850B-11BF5810DDF9}"/>
              </a:ext>
            </a:extLst>
          </p:cNvPr>
          <p:cNvPicPr>
            <a:picLocks noChangeAspect="1"/>
          </p:cNvPicPr>
          <p:nvPr/>
        </p:nvPicPr>
        <p:blipFill>
          <a:blip r:embed="rId4">
            <a:extLst>
              <a:ext uri="{28A0092B-C50C-407E-A947-70E740481C1C}">
                <a14:useLocalDpi xmlns:a14="http://schemas.microsoft.com/office/drawing/2010/main" val="0"/>
              </a:ext>
            </a:extLst>
          </a:blip>
          <a:srcRect t="16629" r="5263" b="17982"/>
          <a:stretch>
            <a:fillRect/>
          </a:stretch>
        </p:blipFill>
        <p:spPr>
          <a:xfrm rot="5400000">
            <a:off x="5905500" y="-152400"/>
            <a:ext cx="6781802" cy="11277601"/>
          </a:xfrm>
          <a:prstGeom prst="rect">
            <a:avLst/>
          </a:prstGeom>
        </p:spPr>
      </p:pic>
    </p:spTree>
    <p:extLst>
      <p:ext uri="{BB962C8B-B14F-4D97-AF65-F5344CB8AC3E}">
        <p14:creationId xmlns:p14="http://schemas.microsoft.com/office/powerpoint/2010/main" val="307999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EF36C-A587-93F2-7A8B-F6292AED134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297C9E07-9BA3-8DA8-FEC4-0379AC1F481B}"/>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4B4C7104-1676-3D60-511A-B3DEE54FD666}"/>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E834D5E7-A6D0-DD17-4760-860CD00119E5}"/>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19288C90-26F5-4281-F314-121BDBA192B6}"/>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11BF37FF-49B3-DB95-DE83-8E8782661762}"/>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3F1F264C-6ED1-0703-59C4-F015E83EDB6B}"/>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01C81890-7B18-A8EA-BB2E-ADE9F6E5C2AA}"/>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B1E46BDE-D015-8AFF-8A09-089D65A25A51}"/>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3C5A7FD7-1B4D-68CA-62EB-F8545DBD9C7A}"/>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03FF9AE4-E949-300F-D63D-90A49A89C58E}"/>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8F58A760-089C-C91A-7C24-6C41707D10A9}"/>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pic>
        <p:nvPicPr>
          <p:cNvPr id="15" name="Picture 14">
            <a:extLst>
              <a:ext uri="{FF2B5EF4-FFF2-40B4-BE49-F238E27FC236}">
                <a16:creationId xmlns:a16="http://schemas.microsoft.com/office/drawing/2014/main" id="{5DF4DD52-CB06-04EA-9E77-3E55E219090C}"/>
              </a:ext>
            </a:extLst>
          </p:cNvPr>
          <p:cNvPicPr>
            <a:picLocks noChangeAspect="1"/>
          </p:cNvPicPr>
          <p:nvPr/>
        </p:nvPicPr>
        <p:blipFill>
          <a:blip r:embed="rId4">
            <a:extLst>
              <a:ext uri="{28A0092B-C50C-407E-A947-70E740481C1C}">
                <a14:useLocalDpi xmlns:a14="http://schemas.microsoft.com/office/drawing/2010/main" val="0"/>
              </a:ext>
            </a:extLst>
          </a:blip>
          <a:srcRect l="28883" t="13014" r="4790" b="15875"/>
          <a:stretch>
            <a:fillRect/>
          </a:stretch>
        </p:blipFill>
        <p:spPr>
          <a:xfrm rot="16200000">
            <a:off x="5292678" y="-1749378"/>
            <a:ext cx="7940578" cy="13344334"/>
          </a:xfrm>
          <a:prstGeom prst="rect">
            <a:avLst/>
          </a:prstGeom>
        </p:spPr>
      </p:pic>
    </p:spTree>
    <p:extLst>
      <p:ext uri="{BB962C8B-B14F-4D97-AF65-F5344CB8AC3E}">
        <p14:creationId xmlns:p14="http://schemas.microsoft.com/office/powerpoint/2010/main" val="4272925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68342-E843-8F00-0597-F17556EAE235}"/>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D82BC599-34C9-A6BF-4FE9-22CB67F47159}"/>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B69C8C46-EAC8-8327-4858-FF61F2581B58}"/>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8AA940FB-756F-199A-E9FC-F145866F6C3A}"/>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55AD347A-6E85-C08C-5530-42F733D7B506}"/>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44AD82ED-9E88-AF60-6C6A-1A635F58E1B4}"/>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FFD40869-6E8C-4F55-C9A9-3A53774724E1}"/>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CFAAF2B7-86F4-A0D7-3F65-8C1172BDCBB5}"/>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8CE068B6-017C-D33F-AAB3-EA12DED1C425}"/>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008C6B3D-54D4-0AA8-E937-EDE6B33DA454}"/>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066003C4-43AA-B4E9-20C3-1A356F09F515}"/>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B33E0F6A-D520-E6B9-C53D-CBB50A63613A}"/>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 name="TextBox 1">
            <a:extLst>
              <a:ext uri="{FF2B5EF4-FFF2-40B4-BE49-F238E27FC236}">
                <a16:creationId xmlns:a16="http://schemas.microsoft.com/office/drawing/2014/main" id="{442639D1-B6E6-45ED-9AA9-4EA4A350D756}"/>
              </a:ext>
            </a:extLst>
          </p:cNvPr>
          <p:cNvSpPr txBox="1"/>
          <p:nvPr/>
        </p:nvSpPr>
        <p:spPr>
          <a:xfrm>
            <a:off x="5029200" y="3390900"/>
            <a:ext cx="9372600" cy="3170099"/>
          </a:xfrm>
          <a:prstGeom prst="rect">
            <a:avLst/>
          </a:prstGeom>
          <a:noFill/>
        </p:spPr>
        <p:txBody>
          <a:bodyPr wrap="square" rtlCol="0">
            <a:spAutoFit/>
          </a:bodyPr>
          <a:lstStyle/>
          <a:p>
            <a:r>
              <a:rPr lang="en-US" sz="20000" b="1" dirty="0">
                <a:latin typeface="Aharoni" panose="020F0502020204030204" pitchFamily="2" charset="-79"/>
                <a:cs typeface="Aharoni" panose="020F0502020204030204" pitchFamily="2" charset="-79"/>
              </a:rPr>
              <a:t>Codes</a:t>
            </a:r>
            <a:endParaRPr lang="en-IN" sz="20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429447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DCE3-4210-B594-654D-65D53BC78E4B}"/>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947E0225-567F-3C79-5880-C7027DF44BA4}"/>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7B9639B1-5368-1657-97F0-CCF79D0A0145}"/>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55BAA15D-5FF8-2935-F3D8-805BD4D12DF2}"/>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4F497FE7-C16B-EC7C-5ADE-2F6512893045}"/>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3245CDEC-00D2-501B-7C39-89FF0FB61CC2}"/>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A84CF8E6-64EE-B12F-C6A2-6C762E50986F}"/>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CB889D70-8034-32F9-F52E-70321C573A99}"/>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7F1F7820-C03F-3E68-0ACF-23DED1A84FFB}"/>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B4159245-7AC5-1B58-EB86-2C493F49820C}"/>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85C579B4-A989-C6EC-A3D9-B071721C4B92}"/>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7C28AAC2-6899-0E9B-CF50-B58E08CA6350}"/>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 name="TextBox 1">
            <a:extLst>
              <a:ext uri="{FF2B5EF4-FFF2-40B4-BE49-F238E27FC236}">
                <a16:creationId xmlns:a16="http://schemas.microsoft.com/office/drawing/2014/main" id="{79DEA13F-6C2A-CF13-BDA7-41433534AAAF}"/>
              </a:ext>
            </a:extLst>
          </p:cNvPr>
          <p:cNvSpPr txBox="1"/>
          <p:nvPr/>
        </p:nvSpPr>
        <p:spPr>
          <a:xfrm>
            <a:off x="1686256" y="723900"/>
            <a:ext cx="4173130" cy="630942"/>
          </a:xfrm>
          <a:prstGeom prst="rect">
            <a:avLst/>
          </a:prstGeom>
          <a:noFill/>
        </p:spPr>
        <p:txBody>
          <a:bodyPr wrap="none" rtlCol="0">
            <a:spAutoFit/>
          </a:bodyPr>
          <a:lstStyle/>
          <a:p>
            <a:r>
              <a:rPr lang="en-US" sz="3500" b="1" dirty="0"/>
              <a:t>Data flow modelling :</a:t>
            </a:r>
            <a:endParaRPr lang="en-IN" sz="3500" b="1" dirty="0"/>
          </a:p>
        </p:txBody>
      </p:sp>
      <p:sp>
        <p:nvSpPr>
          <p:cNvPr id="14" name="TextBox 13">
            <a:extLst>
              <a:ext uri="{FF2B5EF4-FFF2-40B4-BE49-F238E27FC236}">
                <a16:creationId xmlns:a16="http://schemas.microsoft.com/office/drawing/2014/main" id="{720FF0FD-C428-3D99-1AC9-A0132DA9865A}"/>
              </a:ext>
            </a:extLst>
          </p:cNvPr>
          <p:cNvSpPr txBox="1"/>
          <p:nvPr/>
        </p:nvSpPr>
        <p:spPr>
          <a:xfrm>
            <a:off x="1713629" y="2171700"/>
            <a:ext cx="10013062" cy="7109639"/>
          </a:xfrm>
          <a:prstGeom prst="rect">
            <a:avLst/>
          </a:prstGeom>
          <a:noFill/>
        </p:spPr>
        <p:txBody>
          <a:bodyPr wrap="none" rtlCol="0">
            <a:spAutoFit/>
          </a:bodyPr>
          <a:lstStyle/>
          <a:p>
            <a:r>
              <a:rPr lang="en-IN" sz="2400" dirty="0"/>
              <a:t>module BMI(H1n, H0n, W1n, W0n, Underweight, Normal, Overweight, Obese);</a:t>
            </a:r>
            <a:br>
              <a:rPr lang="en-IN" sz="2400" dirty="0"/>
            </a:br>
            <a:r>
              <a:rPr lang="en-IN" sz="2400" dirty="0"/>
              <a:t>input H1n, H0n, W1n, W0n;</a:t>
            </a:r>
            <a:br>
              <a:rPr lang="en-IN" sz="2400" dirty="0"/>
            </a:br>
            <a:r>
              <a:rPr lang="en-IN" sz="2400" dirty="0"/>
              <a:t>output Underweight, Normal, Overweight, Obese;</a:t>
            </a:r>
            <a:br>
              <a:rPr lang="en-IN" sz="2400" dirty="0"/>
            </a:br>
            <a:r>
              <a:rPr lang="en-IN" sz="2400" dirty="0"/>
              <a:t>wire H1n, H0n, W1n, W0n;</a:t>
            </a:r>
            <a:br>
              <a:rPr lang="en-IN" sz="2400" dirty="0"/>
            </a:br>
            <a:r>
              <a:rPr lang="en-IN" sz="2400" dirty="0"/>
              <a:t>wire [15:0] D;</a:t>
            </a:r>
            <a:br>
              <a:rPr lang="en-IN" sz="2400" dirty="0"/>
            </a:br>
            <a:r>
              <a:rPr lang="en-IN" sz="2400" dirty="0"/>
              <a:t>wire Bit1, Bit0;</a:t>
            </a:r>
            <a:br>
              <a:rPr lang="en-IN" sz="2400" dirty="0"/>
            </a:br>
            <a:r>
              <a:rPr lang="en-IN" sz="2400" dirty="0"/>
              <a:t>assign D[0]  = (~H1n &amp; ~H0n &amp; ~W1n &amp; ~W0n);</a:t>
            </a:r>
            <a:br>
              <a:rPr lang="en-IN" sz="2400" dirty="0"/>
            </a:br>
            <a:r>
              <a:rPr lang="en-IN" sz="2400" dirty="0"/>
              <a:t>assign D[1]  = (~H1n &amp; ~H0n &amp; ~W1n &amp;  W0n);</a:t>
            </a:r>
            <a:br>
              <a:rPr lang="en-IN" sz="2400" dirty="0"/>
            </a:br>
            <a:r>
              <a:rPr lang="en-IN" sz="2400" dirty="0"/>
              <a:t>assign D[2]  = (~H1n &amp; ~H0n &amp;  W1n &amp; ~W0n);</a:t>
            </a:r>
            <a:br>
              <a:rPr lang="en-IN" sz="2400" dirty="0"/>
            </a:br>
            <a:r>
              <a:rPr lang="en-IN" sz="2400" dirty="0"/>
              <a:t>assign D[3]  = (~H1n &amp; ~H0n &amp;  W1n &amp;  W0n);</a:t>
            </a:r>
            <a:br>
              <a:rPr lang="en-IN" sz="2400" dirty="0"/>
            </a:br>
            <a:r>
              <a:rPr lang="en-IN" sz="2400" dirty="0"/>
              <a:t>assign D[4]  = (~H1n &amp;  H0n &amp; ~W1n &amp; ~W0n);</a:t>
            </a:r>
            <a:br>
              <a:rPr lang="en-IN" sz="2400" dirty="0"/>
            </a:br>
            <a:r>
              <a:rPr lang="en-IN" sz="2400" dirty="0"/>
              <a:t>assign D[5]  = (~H1n &amp;  H0n &amp; ~W1n &amp;  W0n);</a:t>
            </a:r>
            <a:br>
              <a:rPr lang="en-IN" sz="2400" dirty="0"/>
            </a:br>
            <a:r>
              <a:rPr lang="en-IN" sz="2400" dirty="0"/>
              <a:t>assign D[6]  = (~H1n &amp;  H0n &amp;  W1n &amp; ~W0n);</a:t>
            </a:r>
            <a:br>
              <a:rPr lang="en-IN" sz="2400" dirty="0"/>
            </a:br>
            <a:r>
              <a:rPr lang="en-IN" sz="2400" dirty="0"/>
              <a:t>assign D[7]  = (~H1n &amp;  H0n &amp;  W1n &amp;  W0n);</a:t>
            </a:r>
            <a:br>
              <a:rPr lang="en-IN" sz="2400" dirty="0"/>
            </a:br>
            <a:r>
              <a:rPr lang="en-IN" sz="2400" dirty="0"/>
              <a:t>assign D[8]  = ( H1n &amp; ~H0n &amp; ~W1n &amp; ~W0n);</a:t>
            </a:r>
            <a:br>
              <a:rPr lang="en-IN" sz="2400" dirty="0"/>
            </a:br>
            <a:r>
              <a:rPr lang="en-IN" sz="2400" dirty="0"/>
              <a:t>assign D[9]  = ( H1n &amp; ~H0n &amp; ~W1n &amp;  W0n);</a:t>
            </a:r>
            <a:br>
              <a:rPr lang="en-IN" sz="2400" dirty="0"/>
            </a:br>
            <a:r>
              <a:rPr lang="en-IN" sz="2400" dirty="0"/>
              <a:t>assign D[10] = ( H1n &amp; ~H0n &amp;  W1n &amp; ~W0n);</a:t>
            </a:r>
            <a:br>
              <a:rPr lang="en-IN" sz="2400" dirty="0"/>
            </a:br>
            <a:r>
              <a:rPr lang="en-IN" sz="2400" dirty="0"/>
              <a:t>assign D[11] = ( H1n &amp; ~H0n &amp;  W1n &amp;  W0n);</a:t>
            </a:r>
            <a:br>
              <a:rPr lang="en-IN" sz="2400" dirty="0"/>
            </a:br>
            <a:r>
              <a:rPr lang="en-IN" sz="2400" dirty="0"/>
              <a:t>assign D[12] = ( H1n &amp;  H0n &amp; ~W1n &amp; ~W0n);</a:t>
            </a:r>
          </a:p>
        </p:txBody>
      </p:sp>
      <p:sp>
        <p:nvSpPr>
          <p:cNvPr id="16" name="TextBox 15">
            <a:extLst>
              <a:ext uri="{FF2B5EF4-FFF2-40B4-BE49-F238E27FC236}">
                <a16:creationId xmlns:a16="http://schemas.microsoft.com/office/drawing/2014/main" id="{6D9AB406-6B34-8B96-8ACA-DB7114937CE8}"/>
              </a:ext>
            </a:extLst>
          </p:cNvPr>
          <p:cNvSpPr txBox="1"/>
          <p:nvPr/>
        </p:nvSpPr>
        <p:spPr>
          <a:xfrm>
            <a:off x="8382000" y="4601158"/>
            <a:ext cx="9233618" cy="3785652"/>
          </a:xfrm>
          <a:prstGeom prst="rect">
            <a:avLst/>
          </a:prstGeom>
          <a:noFill/>
        </p:spPr>
        <p:txBody>
          <a:bodyPr wrap="none" rtlCol="0">
            <a:spAutoFit/>
          </a:bodyPr>
          <a:lstStyle/>
          <a:p>
            <a:r>
              <a:rPr lang="en-IN" sz="2400" dirty="0"/>
              <a:t>assign D[13] = ( H1n &amp;  H0n &amp; ~W1n &amp;  W0n);</a:t>
            </a:r>
            <a:br>
              <a:rPr lang="en-IN" sz="2400" dirty="0"/>
            </a:br>
            <a:r>
              <a:rPr lang="en-IN" sz="2400" dirty="0"/>
              <a:t>assign D[14] = ( H1n &amp;  H0n &amp;  W1n &amp; ~W0n);</a:t>
            </a:r>
            <a:br>
              <a:rPr lang="en-IN" sz="2400" dirty="0"/>
            </a:br>
            <a:r>
              <a:rPr lang="en-IN" sz="2400" dirty="0"/>
              <a:t>assign D[15] = ( H1n &amp;  H0n &amp;  W1n &amp;  W0n);</a:t>
            </a:r>
            <a:br>
              <a:rPr lang="en-IN" sz="2400" dirty="0"/>
            </a:br>
            <a:r>
              <a:rPr lang="en-IN" sz="2400" dirty="0"/>
              <a:t>assign Bit1 = D[2] | D[3] | D[6] | D[7] | D[11] | D[15];</a:t>
            </a:r>
            <a:br>
              <a:rPr lang="en-IN" sz="2400" dirty="0"/>
            </a:br>
            <a:r>
              <a:rPr lang="en-IN" sz="2400" dirty="0"/>
              <a:t>assign Bit0 = D[0] | D[1] | D[2] | D[3] | D[5] | D[7] | D[9] | D[10] | D[14];</a:t>
            </a:r>
            <a:br>
              <a:rPr lang="en-IN" sz="2400" dirty="0"/>
            </a:br>
            <a:r>
              <a:rPr lang="en-IN" sz="2400" dirty="0"/>
              <a:t>assign Underweight = (~Bit1) &amp; (~Bit0);</a:t>
            </a:r>
            <a:br>
              <a:rPr lang="en-IN" sz="2400" dirty="0"/>
            </a:br>
            <a:r>
              <a:rPr lang="en-IN" sz="2400" dirty="0"/>
              <a:t>assign Normal = (~Bit1) &amp; ( Bit0);</a:t>
            </a:r>
            <a:br>
              <a:rPr lang="en-IN" sz="2400" dirty="0"/>
            </a:br>
            <a:r>
              <a:rPr lang="en-IN" sz="2400" dirty="0"/>
              <a:t>assign Overweight  = ( Bit1) &amp; (~Bit0);</a:t>
            </a:r>
            <a:br>
              <a:rPr lang="en-IN" sz="2400" dirty="0"/>
            </a:br>
            <a:r>
              <a:rPr lang="en-IN" sz="2400" dirty="0"/>
              <a:t>assign Obese = ( Bit1) &amp; ( Bit0);</a:t>
            </a:r>
            <a:br>
              <a:rPr lang="en-IN" sz="2400" dirty="0"/>
            </a:br>
            <a:r>
              <a:rPr lang="en-IN" sz="2400" dirty="0" err="1"/>
              <a:t>endmodule</a:t>
            </a:r>
            <a:endParaRPr lang="en-IN" sz="2400" dirty="0"/>
          </a:p>
        </p:txBody>
      </p:sp>
    </p:spTree>
    <p:extLst>
      <p:ext uri="{BB962C8B-B14F-4D97-AF65-F5344CB8AC3E}">
        <p14:creationId xmlns:p14="http://schemas.microsoft.com/office/powerpoint/2010/main" val="3927315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75CF7-4382-3114-6CE9-BF300D3F8BE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03626667-06D2-3219-9E57-6BEFB4A3F50D}"/>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D69E5AD0-6346-32D1-016C-1C10BDF68D86}"/>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5D359F63-13B5-3429-0FFA-AC8F15F8D421}"/>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4E645675-75FB-1A1E-51B0-7307CEC49050}"/>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2642626E-66A2-F4EB-93FA-FE90E7B0CCC8}"/>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B61CBCB7-1026-DE04-6044-ABEB8DD705A0}"/>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522135F0-D9ED-A9D0-DFE9-97756BFA74DE}"/>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B0B13AA3-6685-1378-7DEA-B339AD29612D}"/>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0EEE0090-38FA-8AD9-33F3-8D0051C3C765}"/>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AE1296B6-4AE1-E7EA-7FD0-3F600B604B6B}"/>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4F6A8CB9-80B5-252A-62E2-089ED91ACBE6}"/>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 name="TextBox 1">
            <a:extLst>
              <a:ext uri="{FF2B5EF4-FFF2-40B4-BE49-F238E27FC236}">
                <a16:creationId xmlns:a16="http://schemas.microsoft.com/office/drawing/2014/main" id="{8D3B8913-0594-5552-F12D-2F739B81B155}"/>
              </a:ext>
            </a:extLst>
          </p:cNvPr>
          <p:cNvSpPr txBox="1"/>
          <p:nvPr/>
        </p:nvSpPr>
        <p:spPr>
          <a:xfrm>
            <a:off x="1686256" y="723900"/>
            <a:ext cx="4203138" cy="630942"/>
          </a:xfrm>
          <a:prstGeom prst="rect">
            <a:avLst/>
          </a:prstGeom>
          <a:noFill/>
        </p:spPr>
        <p:txBody>
          <a:bodyPr wrap="none" rtlCol="0">
            <a:spAutoFit/>
          </a:bodyPr>
          <a:lstStyle/>
          <a:p>
            <a:r>
              <a:rPr lang="en-US" sz="3500" b="1" dirty="0"/>
              <a:t>Structural modelling :</a:t>
            </a:r>
            <a:endParaRPr lang="en-IN" sz="3500" b="1" dirty="0"/>
          </a:p>
        </p:txBody>
      </p:sp>
      <p:sp>
        <p:nvSpPr>
          <p:cNvPr id="14" name="TextBox 13">
            <a:extLst>
              <a:ext uri="{FF2B5EF4-FFF2-40B4-BE49-F238E27FC236}">
                <a16:creationId xmlns:a16="http://schemas.microsoft.com/office/drawing/2014/main" id="{A7407870-0F19-1B1C-7D07-E98B8D5E08BA}"/>
              </a:ext>
            </a:extLst>
          </p:cNvPr>
          <p:cNvSpPr txBox="1"/>
          <p:nvPr/>
        </p:nvSpPr>
        <p:spPr>
          <a:xfrm>
            <a:off x="1848611" y="1764198"/>
            <a:ext cx="10013062" cy="7478970"/>
          </a:xfrm>
          <a:prstGeom prst="rect">
            <a:avLst/>
          </a:prstGeom>
          <a:noFill/>
        </p:spPr>
        <p:txBody>
          <a:bodyPr wrap="none" rtlCol="0">
            <a:spAutoFit/>
          </a:bodyPr>
          <a:lstStyle/>
          <a:p>
            <a:r>
              <a:rPr lang="en-IN" sz="2400" dirty="0"/>
              <a:t>module BMI(H1n, H0n, W1n, W0n, Underweight, Normal, Overweight, Obese);</a:t>
            </a:r>
            <a:br>
              <a:rPr lang="en-IN" sz="2400" dirty="0"/>
            </a:br>
            <a:r>
              <a:rPr lang="en-IN" sz="2400" dirty="0"/>
              <a:t>input H1n, H0n, W1n, W0n;</a:t>
            </a:r>
            <a:br>
              <a:rPr lang="en-IN" sz="2400" dirty="0"/>
            </a:br>
            <a:r>
              <a:rPr lang="en-IN" sz="2400" dirty="0"/>
              <a:t>output Underweight, Normal, Overweight, Obese;</a:t>
            </a:r>
            <a:br>
              <a:rPr lang="en-IN" sz="2400" dirty="0"/>
            </a:br>
            <a:r>
              <a:rPr lang="en-IN" sz="2400" dirty="0"/>
              <a:t>wire H1n, H0n, W1n, W0n;</a:t>
            </a:r>
            <a:br>
              <a:rPr lang="en-IN" sz="2400" dirty="0"/>
            </a:br>
            <a:r>
              <a:rPr lang="en-IN" sz="2400" dirty="0"/>
              <a:t>wire [15:0]t;</a:t>
            </a:r>
            <a:br>
              <a:rPr lang="en-IN" sz="2400" dirty="0"/>
            </a:br>
            <a:r>
              <a:rPr lang="en-IN" sz="2400" dirty="0"/>
              <a:t>wire Bit1, Bit0;</a:t>
            </a:r>
            <a:br>
              <a:rPr lang="en-IN" sz="2400" dirty="0"/>
            </a:br>
            <a:r>
              <a:rPr lang="en-IN" sz="2400" dirty="0"/>
              <a:t>wire nBit1, nBit0;</a:t>
            </a:r>
            <a:br>
              <a:rPr lang="en-IN" sz="2400" dirty="0"/>
            </a:br>
            <a:r>
              <a:rPr lang="en-IN" sz="2400" dirty="0"/>
              <a:t>and a0(t[0], ~H1n, ~H0n, ~W1n, ~W0n);</a:t>
            </a:r>
            <a:br>
              <a:rPr lang="en-IN" sz="2400" dirty="0"/>
            </a:br>
            <a:r>
              <a:rPr lang="en-IN" sz="2400" dirty="0"/>
              <a:t>and a1(t[1], ~H1n, ~H0n, ~W1n,  W0n);</a:t>
            </a:r>
            <a:br>
              <a:rPr lang="en-IN" sz="2400" dirty="0"/>
            </a:br>
            <a:r>
              <a:rPr lang="en-IN" sz="2400" dirty="0"/>
              <a:t>and a2(t[2], ~H1n, ~H0n,  W1n, ~W0n);</a:t>
            </a:r>
            <a:br>
              <a:rPr lang="en-IN" sz="2400" dirty="0"/>
            </a:br>
            <a:r>
              <a:rPr lang="en-IN" sz="2400" dirty="0"/>
              <a:t>and a3(t[3], ~H1n, ~H0n,  W1n,  W0n);</a:t>
            </a:r>
            <a:br>
              <a:rPr lang="en-IN" sz="2400" dirty="0"/>
            </a:br>
            <a:r>
              <a:rPr lang="en-IN" sz="2400" dirty="0"/>
              <a:t>and a4(t[4], ~H1n,  H0n, ~W1n, ~W0n);</a:t>
            </a:r>
            <a:br>
              <a:rPr lang="en-IN" sz="2400" dirty="0"/>
            </a:br>
            <a:r>
              <a:rPr lang="en-IN" sz="2400" dirty="0"/>
              <a:t>and a5(t[5], ~H1n,  H0n, ~W1n,  W0n);</a:t>
            </a:r>
            <a:br>
              <a:rPr lang="en-IN" sz="2400" dirty="0"/>
            </a:br>
            <a:r>
              <a:rPr lang="en-IN" sz="2400" dirty="0"/>
              <a:t>and a6(t[6], ~H1n,  H0n,  W1n, ~W0n);</a:t>
            </a:r>
            <a:br>
              <a:rPr lang="en-IN" sz="2400" dirty="0"/>
            </a:br>
            <a:r>
              <a:rPr lang="en-IN" sz="2400" dirty="0"/>
              <a:t>and a7(t[7], ~H1n,  H0n,  W1n,  W0n);</a:t>
            </a:r>
            <a:br>
              <a:rPr lang="en-IN" sz="2400" dirty="0"/>
            </a:br>
            <a:r>
              <a:rPr lang="en-IN" sz="2400" dirty="0"/>
              <a:t>and a8(t[8],  H1n, ~H0n, ~W1n, ~W0n);</a:t>
            </a:r>
            <a:br>
              <a:rPr lang="en-IN" sz="2400" dirty="0"/>
            </a:br>
            <a:r>
              <a:rPr lang="en-IN" sz="2400" dirty="0"/>
              <a:t>and a9(t[9],  H1n, ~H0n, ~W1n,  W0n);</a:t>
            </a:r>
            <a:br>
              <a:rPr lang="en-IN" sz="2400" dirty="0"/>
            </a:br>
            <a:r>
              <a:rPr lang="en-IN" sz="2400" dirty="0"/>
              <a:t>and a10(t[10], H1n, ~H0n,  W1n, ~W0n);</a:t>
            </a:r>
            <a:br>
              <a:rPr lang="en-IN" sz="2400" dirty="0"/>
            </a:br>
            <a:r>
              <a:rPr lang="en-IN" sz="2400" dirty="0"/>
              <a:t>and a11(t[11], H1n, ~H0n,  W1n,  W0n);</a:t>
            </a:r>
            <a:br>
              <a:rPr lang="en-IN" sz="2400" dirty="0"/>
            </a:br>
            <a:r>
              <a:rPr lang="en-IN" sz="2400" dirty="0"/>
              <a:t>and a12(t[12], H1n,  H0n, ~W1n, ~W0n);</a:t>
            </a:r>
          </a:p>
        </p:txBody>
      </p:sp>
      <p:sp>
        <p:nvSpPr>
          <p:cNvPr id="16" name="TextBox 15">
            <a:extLst>
              <a:ext uri="{FF2B5EF4-FFF2-40B4-BE49-F238E27FC236}">
                <a16:creationId xmlns:a16="http://schemas.microsoft.com/office/drawing/2014/main" id="{E0D668C8-896B-E40E-59C1-3435C50D2146}"/>
              </a:ext>
            </a:extLst>
          </p:cNvPr>
          <p:cNvSpPr txBox="1"/>
          <p:nvPr/>
        </p:nvSpPr>
        <p:spPr>
          <a:xfrm>
            <a:off x="9359236" y="3695700"/>
            <a:ext cx="7359707" cy="4524315"/>
          </a:xfrm>
          <a:prstGeom prst="rect">
            <a:avLst/>
          </a:prstGeom>
          <a:noFill/>
        </p:spPr>
        <p:txBody>
          <a:bodyPr wrap="none" rtlCol="0">
            <a:spAutoFit/>
          </a:bodyPr>
          <a:lstStyle/>
          <a:p>
            <a:r>
              <a:rPr lang="en-IN" sz="2400" dirty="0"/>
              <a:t>and a13(t[13], H1n,  H0n, ~W1n,  W0n);</a:t>
            </a:r>
            <a:br>
              <a:rPr lang="en-IN" sz="2400" dirty="0"/>
            </a:br>
            <a:r>
              <a:rPr lang="en-IN" sz="2400" dirty="0"/>
              <a:t>and a14(t[14], H1n,  H0n,  W1n, ~W0n);</a:t>
            </a:r>
            <a:br>
              <a:rPr lang="en-IN" sz="2400" dirty="0"/>
            </a:br>
            <a:r>
              <a:rPr lang="en-IN" sz="2400" dirty="0"/>
              <a:t>and a15(t[15], H1n,  H0n,  W1n,  W0n);</a:t>
            </a:r>
            <a:br>
              <a:rPr lang="en-IN" sz="2400" dirty="0"/>
            </a:br>
            <a:r>
              <a:rPr lang="en-IN" sz="2400" dirty="0"/>
              <a:t>or or1(Bit1, t[2], t[3], t[6], t[7], t[11], t[15]);</a:t>
            </a:r>
            <a:br>
              <a:rPr lang="en-IN" sz="2400" dirty="0"/>
            </a:br>
            <a:r>
              <a:rPr lang="en-IN" sz="2400" dirty="0"/>
              <a:t>or or2(Bit0, t[0], t[1], t[2], t[3], t[5], t[7], t[9], t[10], t[14]);</a:t>
            </a:r>
            <a:br>
              <a:rPr lang="en-IN" sz="2400" dirty="0"/>
            </a:br>
            <a:r>
              <a:rPr lang="en-IN" sz="2400" dirty="0"/>
              <a:t>not n16(nBit1, Bit1);</a:t>
            </a:r>
            <a:br>
              <a:rPr lang="en-IN" sz="2400" dirty="0"/>
            </a:br>
            <a:r>
              <a:rPr lang="en-IN" sz="2400" dirty="0"/>
              <a:t>not n17(nBit0, Bit0);</a:t>
            </a:r>
            <a:br>
              <a:rPr lang="en-IN" sz="2400" dirty="0"/>
            </a:br>
            <a:r>
              <a:rPr lang="en-IN" sz="2400" dirty="0"/>
              <a:t>and a16(Underweight, nBit1, nBit0);</a:t>
            </a:r>
            <a:br>
              <a:rPr lang="en-IN" sz="2400" dirty="0"/>
            </a:br>
            <a:r>
              <a:rPr lang="en-IN" sz="2400" dirty="0"/>
              <a:t>and a17(Normal,nBit1, Bit0);</a:t>
            </a:r>
            <a:br>
              <a:rPr lang="en-IN" sz="2400" dirty="0"/>
            </a:br>
            <a:r>
              <a:rPr lang="en-IN" sz="2400" dirty="0"/>
              <a:t>and a18(Overweight,  Bit1,  nBit0);</a:t>
            </a:r>
            <a:br>
              <a:rPr lang="en-IN" sz="2400" dirty="0"/>
            </a:br>
            <a:r>
              <a:rPr lang="en-IN" sz="2400" dirty="0"/>
              <a:t>and a19(Obese, Bit1,  Bit0);</a:t>
            </a:r>
            <a:br>
              <a:rPr lang="en-IN" sz="2400" dirty="0"/>
            </a:br>
            <a:r>
              <a:rPr lang="en-IN" sz="2400" dirty="0" err="1"/>
              <a:t>endmodule</a:t>
            </a:r>
            <a:endParaRPr lang="en-IN" sz="2400" dirty="0"/>
          </a:p>
        </p:txBody>
      </p:sp>
    </p:spTree>
    <p:extLst>
      <p:ext uri="{BB962C8B-B14F-4D97-AF65-F5344CB8AC3E}">
        <p14:creationId xmlns:p14="http://schemas.microsoft.com/office/powerpoint/2010/main" val="563221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BD54-5EF4-BDA4-4717-5C24A44D3ACC}"/>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6C5B14C-F6ED-11AD-EC26-959C33AC57F8}"/>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0BC4640B-B4F3-539A-0B33-E50B198FEC13}"/>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47EED822-30C4-1CAB-29D2-4B55A0F21974}"/>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3D69E744-7C4C-9394-7AB6-D258AA85DAFB}"/>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AA639B45-EADF-5E8D-1E50-E985B0CA89DC}"/>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5DC1FD41-9A73-2510-6961-519F555BD53F}"/>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749DF66-7069-F9CB-ABC4-744917FBB49D}"/>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42E59AA0-F814-231E-073B-E3A94811E6E2}"/>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C2110F2C-324E-FCB4-0BB6-CF4B6DCDEEBC}"/>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3F709AE5-045B-3178-BA71-972398DEC957}"/>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E9918EE9-F79C-2C84-27E8-785249EC9E67}"/>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 name="TextBox 1">
            <a:extLst>
              <a:ext uri="{FF2B5EF4-FFF2-40B4-BE49-F238E27FC236}">
                <a16:creationId xmlns:a16="http://schemas.microsoft.com/office/drawing/2014/main" id="{198B3FF7-0ADE-83EC-498C-43B292E7D5F5}"/>
              </a:ext>
            </a:extLst>
          </p:cNvPr>
          <p:cNvSpPr txBox="1"/>
          <p:nvPr/>
        </p:nvSpPr>
        <p:spPr>
          <a:xfrm>
            <a:off x="1686256" y="723900"/>
            <a:ext cx="4589526" cy="630942"/>
          </a:xfrm>
          <a:prstGeom prst="rect">
            <a:avLst/>
          </a:prstGeom>
          <a:noFill/>
        </p:spPr>
        <p:txBody>
          <a:bodyPr wrap="none" rtlCol="0">
            <a:spAutoFit/>
          </a:bodyPr>
          <a:lstStyle/>
          <a:p>
            <a:r>
              <a:rPr lang="en-US" sz="3500" b="1" dirty="0" err="1"/>
              <a:t>Behavioural</a:t>
            </a:r>
            <a:r>
              <a:rPr lang="en-US" sz="3500" b="1" dirty="0"/>
              <a:t> modelling :</a:t>
            </a:r>
            <a:endParaRPr lang="en-IN" sz="3500" b="1" dirty="0"/>
          </a:p>
        </p:txBody>
      </p:sp>
      <p:sp>
        <p:nvSpPr>
          <p:cNvPr id="14" name="TextBox 13">
            <a:extLst>
              <a:ext uri="{FF2B5EF4-FFF2-40B4-BE49-F238E27FC236}">
                <a16:creationId xmlns:a16="http://schemas.microsoft.com/office/drawing/2014/main" id="{1BDAF3C7-F39E-DF27-0E57-02E2C67A45E0}"/>
              </a:ext>
            </a:extLst>
          </p:cNvPr>
          <p:cNvSpPr txBox="1"/>
          <p:nvPr/>
        </p:nvSpPr>
        <p:spPr>
          <a:xfrm>
            <a:off x="1828800" y="1700179"/>
            <a:ext cx="9365449" cy="8125301"/>
          </a:xfrm>
          <a:prstGeom prst="rect">
            <a:avLst/>
          </a:prstGeom>
          <a:noFill/>
        </p:spPr>
        <p:txBody>
          <a:bodyPr wrap="none" rtlCol="0">
            <a:spAutoFit/>
          </a:bodyPr>
          <a:lstStyle/>
          <a:p>
            <a:r>
              <a:rPr lang="en-IN" sz="2400" dirty="0"/>
              <a:t>module BMI(H1, H0, W1, W0, Underweight, Normal, Overweight, Obese);</a:t>
            </a:r>
            <a:br>
              <a:rPr lang="en-IN" sz="2400" dirty="0"/>
            </a:br>
            <a:r>
              <a:rPr lang="en-IN" sz="2400" dirty="0"/>
              <a:t>input H1, H0, W1, W0;</a:t>
            </a:r>
            <a:br>
              <a:rPr lang="en-IN" sz="2400" dirty="0"/>
            </a:br>
            <a:r>
              <a:rPr lang="en-IN" sz="2400" dirty="0"/>
              <a:t>output reg Underweight, Normal, Overweight, Obese;</a:t>
            </a:r>
            <a:br>
              <a:rPr lang="en-IN" sz="2400" dirty="0"/>
            </a:br>
            <a:r>
              <a:rPr lang="en-IN" sz="2400" dirty="0"/>
              <a:t>reg [1:0] Bit;</a:t>
            </a:r>
            <a:br>
              <a:rPr lang="en-IN" sz="2400" dirty="0"/>
            </a:br>
            <a:r>
              <a:rPr lang="en-IN" sz="2400" dirty="0"/>
              <a:t>reg [3:0] </a:t>
            </a:r>
            <a:r>
              <a:rPr lang="en-IN" sz="2400" dirty="0" err="1"/>
              <a:t>D_in</a:t>
            </a:r>
            <a:r>
              <a:rPr lang="en-IN" sz="2400" dirty="0"/>
              <a:t>;</a:t>
            </a:r>
            <a:br>
              <a:rPr lang="en-IN" sz="2400" dirty="0"/>
            </a:br>
            <a:r>
              <a:rPr lang="en-IN" sz="2400" dirty="0"/>
              <a:t>always @(*) begin</a:t>
            </a:r>
            <a:br>
              <a:rPr lang="en-IN" sz="2400" dirty="0"/>
            </a:br>
            <a:r>
              <a:rPr lang="en-IN" sz="2400" dirty="0"/>
              <a:t>  </a:t>
            </a:r>
            <a:r>
              <a:rPr lang="en-IN" sz="2400" dirty="0" err="1"/>
              <a:t>D_in</a:t>
            </a:r>
            <a:r>
              <a:rPr lang="en-IN" sz="2400" dirty="0"/>
              <a:t> = {H1, H0, W1, W0};</a:t>
            </a:r>
            <a:br>
              <a:rPr lang="en-IN" sz="2400" dirty="0"/>
            </a:br>
            <a:r>
              <a:rPr lang="en-IN" sz="2400" dirty="0"/>
              <a:t>  Underweight = 0;</a:t>
            </a:r>
            <a:br>
              <a:rPr lang="en-IN" sz="2400" dirty="0"/>
            </a:br>
            <a:r>
              <a:rPr lang="en-IN" sz="2400" dirty="0"/>
              <a:t>  Normal = 0;</a:t>
            </a:r>
            <a:br>
              <a:rPr lang="en-IN" sz="2400" dirty="0"/>
            </a:br>
            <a:r>
              <a:rPr lang="en-IN" sz="2400" dirty="0"/>
              <a:t>  Overweight = 0;</a:t>
            </a:r>
            <a:br>
              <a:rPr lang="en-IN" sz="2400" dirty="0"/>
            </a:br>
            <a:r>
              <a:rPr lang="en-IN" sz="2400" dirty="0"/>
              <a:t>  Obese = 0;</a:t>
            </a:r>
            <a:br>
              <a:rPr lang="en-IN" sz="2400" dirty="0"/>
            </a:br>
            <a:r>
              <a:rPr lang="en-IN" sz="2400" dirty="0"/>
              <a:t>  Bit = 2'b00;</a:t>
            </a:r>
            <a:br>
              <a:rPr lang="en-IN" sz="2400" dirty="0"/>
            </a:br>
            <a:r>
              <a:rPr lang="en-IN" sz="2400" dirty="0"/>
              <a:t>  case (</a:t>
            </a:r>
            <a:r>
              <a:rPr lang="en-IN" sz="2400" dirty="0" err="1"/>
              <a:t>D_in</a:t>
            </a:r>
            <a:r>
              <a:rPr lang="en-IN" sz="2400" dirty="0"/>
              <a:t>)</a:t>
            </a:r>
            <a:br>
              <a:rPr lang="en-IN" sz="2400" dirty="0"/>
            </a:br>
            <a:r>
              <a:rPr lang="en-IN" sz="2400" dirty="0"/>
              <a:t>    4'b0000: Bit = 2'b01;</a:t>
            </a:r>
            <a:br>
              <a:rPr lang="en-IN" sz="2400" dirty="0"/>
            </a:br>
            <a:r>
              <a:rPr lang="en-IN" sz="2400" dirty="0"/>
              <a:t>    4'b0001: Bit = 2'b01;</a:t>
            </a:r>
            <a:br>
              <a:rPr lang="en-IN" sz="2400" dirty="0"/>
            </a:br>
            <a:r>
              <a:rPr lang="en-IN" sz="2400" dirty="0"/>
              <a:t>    4'b0010: Bit = 2'b11;</a:t>
            </a:r>
            <a:br>
              <a:rPr lang="en-IN" sz="2400" dirty="0"/>
            </a:br>
            <a:r>
              <a:rPr lang="en-IN" sz="2400" dirty="0"/>
              <a:t>    4'b0011: Bit = 2'b11;</a:t>
            </a:r>
            <a:br>
              <a:rPr lang="en-IN" sz="2400" dirty="0"/>
            </a:br>
            <a:r>
              <a:rPr lang="en-IN" sz="2400" dirty="0"/>
              <a:t>    4'b0100: Bit = 2'b00;</a:t>
            </a:r>
            <a:br>
              <a:rPr lang="en-IN" sz="2400" dirty="0"/>
            </a:br>
            <a:r>
              <a:rPr lang="en-IN" sz="2400" dirty="0"/>
              <a:t>    4'b0101: Bit = 2'b01;</a:t>
            </a:r>
          </a:p>
          <a:p>
            <a:r>
              <a:rPr lang="en-IN" sz="2400" dirty="0"/>
              <a:t>    4'b0110: Bit = 2'b10;</a:t>
            </a:r>
            <a:br>
              <a:rPr lang="en-IN" sz="2400" dirty="0"/>
            </a:br>
            <a:r>
              <a:rPr lang="en-IN" sz="2400" dirty="0"/>
              <a:t>    4'b0111: Bit = 2'b11;</a:t>
            </a:r>
            <a:br>
              <a:rPr lang="en-IN" sz="2400" dirty="0"/>
            </a:br>
            <a:r>
              <a:rPr lang="en-IN" dirty="0"/>
              <a:t>  </a:t>
            </a:r>
            <a:endParaRPr lang="en-IN" sz="2200" dirty="0"/>
          </a:p>
        </p:txBody>
      </p:sp>
      <p:sp>
        <p:nvSpPr>
          <p:cNvPr id="16" name="TextBox 15">
            <a:extLst>
              <a:ext uri="{FF2B5EF4-FFF2-40B4-BE49-F238E27FC236}">
                <a16:creationId xmlns:a16="http://schemas.microsoft.com/office/drawing/2014/main" id="{E54C3EB1-F2D3-5C0E-1661-423B23E1CEB8}"/>
              </a:ext>
            </a:extLst>
          </p:cNvPr>
          <p:cNvSpPr txBox="1"/>
          <p:nvPr/>
        </p:nvSpPr>
        <p:spPr>
          <a:xfrm>
            <a:off x="11049000" y="2628900"/>
            <a:ext cx="3466911" cy="6740307"/>
          </a:xfrm>
          <a:prstGeom prst="rect">
            <a:avLst/>
          </a:prstGeom>
          <a:noFill/>
        </p:spPr>
        <p:txBody>
          <a:bodyPr wrap="none" rtlCol="0">
            <a:spAutoFit/>
          </a:bodyPr>
          <a:lstStyle/>
          <a:p>
            <a:r>
              <a:rPr lang="en-IN" sz="2400" dirty="0"/>
              <a:t>    4'b1000: Bit = 2'b00;</a:t>
            </a:r>
            <a:br>
              <a:rPr lang="en-IN" sz="2400" dirty="0"/>
            </a:br>
            <a:r>
              <a:rPr lang="en-IN" sz="2400" dirty="0"/>
              <a:t>    4'b1001: Bit = 2'b01;</a:t>
            </a:r>
            <a:br>
              <a:rPr lang="en-IN" sz="2400" dirty="0"/>
            </a:br>
            <a:r>
              <a:rPr lang="en-IN" sz="2400" dirty="0"/>
              <a:t>    4'b1010: Bit = 2'b01;</a:t>
            </a:r>
            <a:br>
              <a:rPr lang="en-IN" sz="2400" dirty="0"/>
            </a:br>
            <a:r>
              <a:rPr lang="en-IN" sz="2400" dirty="0"/>
              <a:t>    4'b1011: Bit = 2'b10;</a:t>
            </a:r>
            <a:br>
              <a:rPr lang="en-IN" sz="2400" dirty="0"/>
            </a:br>
            <a:r>
              <a:rPr lang="en-IN" sz="2400" dirty="0"/>
              <a:t>    4'b1100: Bit = 2'b00;</a:t>
            </a:r>
            <a:br>
              <a:rPr lang="en-IN" sz="2400" dirty="0"/>
            </a:br>
            <a:r>
              <a:rPr lang="en-IN" sz="2400" dirty="0"/>
              <a:t>    4'b1101: Bit = 2'b00;</a:t>
            </a:r>
            <a:br>
              <a:rPr lang="en-IN" sz="2400" dirty="0"/>
            </a:br>
            <a:r>
              <a:rPr lang="en-IN" sz="2400" dirty="0"/>
              <a:t>    4'b1110: Bit = 2'b01;</a:t>
            </a:r>
            <a:br>
              <a:rPr lang="en-IN" sz="2400" dirty="0"/>
            </a:br>
            <a:r>
              <a:rPr lang="en-IN" sz="2400" dirty="0"/>
              <a:t>    4'b1111: Bit = 2'b10;</a:t>
            </a:r>
            <a:br>
              <a:rPr lang="en-IN" sz="2400" dirty="0"/>
            </a:br>
            <a:r>
              <a:rPr lang="en-IN" sz="2400" dirty="0"/>
              <a:t>    default: Bit = 2'b00;</a:t>
            </a:r>
            <a:br>
              <a:rPr lang="en-IN" sz="2400" dirty="0"/>
            </a:br>
            <a:r>
              <a:rPr lang="en-IN" sz="2400" dirty="0"/>
              <a:t>  </a:t>
            </a:r>
            <a:r>
              <a:rPr lang="en-IN" sz="2400" dirty="0" err="1"/>
              <a:t>endcase</a:t>
            </a:r>
            <a:br>
              <a:rPr lang="en-IN" sz="2400" dirty="0"/>
            </a:br>
            <a:r>
              <a:rPr lang="en-IN" sz="2400" dirty="0"/>
              <a:t>  case (Bit)</a:t>
            </a:r>
            <a:br>
              <a:rPr lang="en-IN" sz="2400" dirty="0"/>
            </a:br>
            <a:r>
              <a:rPr lang="en-IN" sz="2400" dirty="0"/>
              <a:t>    2'b00: Underweight = 1;</a:t>
            </a:r>
            <a:br>
              <a:rPr lang="en-IN" sz="2400" dirty="0"/>
            </a:br>
            <a:r>
              <a:rPr lang="en-IN" sz="2400" dirty="0"/>
              <a:t>    2'b01: Normal      = 1;</a:t>
            </a:r>
            <a:br>
              <a:rPr lang="en-IN" sz="2400" dirty="0"/>
            </a:br>
            <a:r>
              <a:rPr lang="en-IN" sz="2400" dirty="0"/>
              <a:t>    2'b10: Overweight  = 1;</a:t>
            </a:r>
            <a:br>
              <a:rPr lang="en-IN" sz="2400" dirty="0"/>
            </a:br>
            <a:r>
              <a:rPr lang="en-IN" sz="2400" dirty="0"/>
              <a:t>    2'b11: Obese       = 1;</a:t>
            </a:r>
            <a:br>
              <a:rPr lang="en-IN" sz="2400" dirty="0"/>
            </a:br>
            <a:r>
              <a:rPr lang="en-IN" sz="2400" dirty="0"/>
              <a:t>  </a:t>
            </a:r>
            <a:r>
              <a:rPr lang="en-IN" sz="2400" dirty="0" err="1"/>
              <a:t>endcase</a:t>
            </a:r>
            <a:br>
              <a:rPr lang="en-IN" sz="2400" dirty="0"/>
            </a:br>
            <a:r>
              <a:rPr lang="en-IN" sz="2400" dirty="0"/>
              <a:t>end</a:t>
            </a:r>
            <a:br>
              <a:rPr lang="en-IN" sz="2400" dirty="0"/>
            </a:br>
            <a:r>
              <a:rPr lang="en-IN" sz="2400" dirty="0" err="1"/>
              <a:t>endmodule</a:t>
            </a:r>
            <a:endParaRPr lang="en-IN" sz="2400" dirty="0"/>
          </a:p>
        </p:txBody>
      </p:sp>
    </p:spTree>
    <p:extLst>
      <p:ext uri="{BB962C8B-B14F-4D97-AF65-F5344CB8AC3E}">
        <p14:creationId xmlns:p14="http://schemas.microsoft.com/office/powerpoint/2010/main" val="1189973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19D4B-5FDC-1E1E-A63E-83682F25DC1E}"/>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2F2DBBD-298C-3DDA-880A-C8028EBF4C3B}"/>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171C07DD-6BB4-331D-9772-3B4EBAA3F1CB}"/>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90CD698E-F2AF-2E14-C4A7-DEDBB193AB1F}"/>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148D8F10-E3CB-9E85-02FC-0A3A220A3AAB}"/>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DBCD14BA-02CE-5D53-1727-3DBFDC13B724}"/>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18596EAF-41D6-B135-25DC-C513F301E296}"/>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32EB9F2F-5949-631A-B138-97175710D671}"/>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3FD5F559-560D-9EC8-52E6-89A23A35BCEA}"/>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BA2D4FCE-EB59-AD0B-1275-FE561C896869}"/>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D79ABA35-21E2-C4DC-319B-3A80F1C38E96}"/>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CF7FA28E-BEDD-CB12-AC3E-93F5C43B8FCD}"/>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 name="TextBox 1">
            <a:extLst>
              <a:ext uri="{FF2B5EF4-FFF2-40B4-BE49-F238E27FC236}">
                <a16:creationId xmlns:a16="http://schemas.microsoft.com/office/drawing/2014/main" id="{74CE7C2B-BB16-8DA3-D80E-2009C53F812A}"/>
              </a:ext>
            </a:extLst>
          </p:cNvPr>
          <p:cNvSpPr txBox="1"/>
          <p:nvPr/>
        </p:nvSpPr>
        <p:spPr>
          <a:xfrm>
            <a:off x="2514600" y="1145085"/>
            <a:ext cx="2575257" cy="677108"/>
          </a:xfrm>
          <a:prstGeom prst="rect">
            <a:avLst/>
          </a:prstGeom>
          <a:noFill/>
        </p:spPr>
        <p:txBody>
          <a:bodyPr wrap="none" rtlCol="0">
            <a:spAutoFit/>
          </a:bodyPr>
          <a:lstStyle/>
          <a:p>
            <a:r>
              <a:rPr lang="en-US" sz="3800" b="1" dirty="0"/>
              <a:t>Test bench :</a:t>
            </a:r>
            <a:endParaRPr lang="en-IN" sz="3800" b="1" dirty="0"/>
          </a:p>
        </p:txBody>
      </p:sp>
      <p:sp>
        <p:nvSpPr>
          <p:cNvPr id="14" name="TextBox 13">
            <a:extLst>
              <a:ext uri="{FF2B5EF4-FFF2-40B4-BE49-F238E27FC236}">
                <a16:creationId xmlns:a16="http://schemas.microsoft.com/office/drawing/2014/main" id="{7840339A-811C-C473-0740-32721892B3EA}"/>
              </a:ext>
            </a:extLst>
          </p:cNvPr>
          <p:cNvSpPr txBox="1"/>
          <p:nvPr/>
        </p:nvSpPr>
        <p:spPr>
          <a:xfrm>
            <a:off x="2667000" y="2400300"/>
            <a:ext cx="11815222" cy="6093976"/>
          </a:xfrm>
          <a:prstGeom prst="rect">
            <a:avLst/>
          </a:prstGeom>
          <a:noFill/>
        </p:spPr>
        <p:txBody>
          <a:bodyPr wrap="none" rtlCol="0">
            <a:spAutoFit/>
          </a:bodyPr>
          <a:lstStyle/>
          <a:p>
            <a:r>
              <a:rPr lang="en-IN" sz="3000" dirty="0"/>
              <a:t>module </a:t>
            </a:r>
            <a:r>
              <a:rPr lang="en-IN" sz="3000" dirty="0" err="1"/>
              <a:t>tb_bmi_structural</a:t>
            </a:r>
            <a:r>
              <a:rPr lang="en-IN" sz="3000" dirty="0"/>
              <a:t>;</a:t>
            </a:r>
            <a:br>
              <a:rPr lang="en-IN" sz="3000" dirty="0"/>
            </a:br>
            <a:r>
              <a:rPr lang="en-IN" sz="3000" dirty="0"/>
              <a:t>reg H1n, H0n, W1n, W0n;</a:t>
            </a:r>
            <a:br>
              <a:rPr lang="en-IN" sz="3000" dirty="0"/>
            </a:br>
            <a:r>
              <a:rPr lang="en-IN" sz="3000" dirty="0"/>
              <a:t>wire Underweight, Normal, Overweight, Obese;</a:t>
            </a:r>
            <a:br>
              <a:rPr lang="en-IN" sz="3000" dirty="0"/>
            </a:br>
            <a:r>
              <a:rPr lang="en-IN" sz="3000" dirty="0"/>
              <a:t>BMI </a:t>
            </a:r>
            <a:r>
              <a:rPr lang="en-IN" sz="3000" dirty="0" err="1"/>
              <a:t>uut</a:t>
            </a:r>
            <a:r>
              <a:rPr lang="en-IN" sz="3000" dirty="0"/>
              <a:t>(H1n, H0n, W1n, W0n, Underweight, Normal, Overweight, Obese);</a:t>
            </a:r>
            <a:br>
              <a:rPr lang="en-IN" sz="3000" dirty="0"/>
            </a:br>
            <a:r>
              <a:rPr lang="en-IN" sz="3000" dirty="0"/>
              <a:t>integer </a:t>
            </a:r>
            <a:r>
              <a:rPr lang="en-IN" sz="3000" dirty="0" err="1"/>
              <a:t>i</a:t>
            </a:r>
            <a:r>
              <a:rPr lang="en-IN" sz="3000" dirty="0"/>
              <a:t>;</a:t>
            </a:r>
            <a:br>
              <a:rPr lang="en-IN" sz="3000" dirty="0"/>
            </a:br>
            <a:r>
              <a:rPr lang="en-IN" sz="3000" dirty="0"/>
              <a:t>initial begin</a:t>
            </a:r>
            <a:br>
              <a:rPr lang="en-IN" sz="3000" dirty="0"/>
            </a:br>
            <a:r>
              <a:rPr lang="en-IN" sz="3000" dirty="0"/>
              <a:t>  for (</a:t>
            </a:r>
            <a:r>
              <a:rPr lang="en-IN" sz="3000" dirty="0" err="1"/>
              <a:t>i</a:t>
            </a:r>
            <a:r>
              <a:rPr lang="en-IN" sz="3000" dirty="0"/>
              <a:t>=0; </a:t>
            </a:r>
            <a:r>
              <a:rPr lang="en-IN" sz="3000" dirty="0" err="1"/>
              <a:t>i</a:t>
            </a:r>
            <a:r>
              <a:rPr lang="en-IN" sz="3000" dirty="0"/>
              <a:t>&lt;16; </a:t>
            </a:r>
            <a:r>
              <a:rPr lang="en-IN" sz="3000" dirty="0" err="1"/>
              <a:t>i</a:t>
            </a:r>
            <a:r>
              <a:rPr lang="en-IN" sz="3000" dirty="0"/>
              <a:t>=i+1) begin</a:t>
            </a:r>
            <a:br>
              <a:rPr lang="en-IN" sz="3000" dirty="0"/>
            </a:br>
            <a:r>
              <a:rPr lang="en-IN" sz="3000" dirty="0"/>
              <a:t>    {H1n,H0n,W1n,W0n} = </a:t>
            </a:r>
            <a:r>
              <a:rPr lang="en-IN" sz="3000" dirty="0" err="1"/>
              <a:t>i</a:t>
            </a:r>
            <a:r>
              <a:rPr lang="en-IN" sz="3000" dirty="0"/>
              <a:t>;</a:t>
            </a:r>
            <a:br>
              <a:rPr lang="en-IN" sz="3000" dirty="0"/>
            </a:br>
            <a:r>
              <a:rPr lang="en-IN" sz="3000" dirty="0"/>
              <a:t>    #10;</a:t>
            </a:r>
            <a:br>
              <a:rPr lang="en-IN" sz="3000" dirty="0"/>
            </a:br>
            <a:r>
              <a:rPr lang="en-IN" sz="3000" dirty="0"/>
              <a:t>  end</a:t>
            </a:r>
            <a:br>
              <a:rPr lang="en-IN" sz="3000" dirty="0"/>
            </a:br>
            <a:r>
              <a:rPr lang="en-IN" sz="3000" dirty="0"/>
              <a:t>  $finish;</a:t>
            </a:r>
            <a:br>
              <a:rPr lang="en-IN" sz="3000" dirty="0"/>
            </a:br>
            <a:r>
              <a:rPr lang="en-IN" sz="3000" dirty="0"/>
              <a:t>end</a:t>
            </a:r>
            <a:br>
              <a:rPr lang="en-IN" sz="3000" dirty="0"/>
            </a:br>
            <a:r>
              <a:rPr lang="en-IN" sz="3000" dirty="0" err="1"/>
              <a:t>endmodule</a:t>
            </a:r>
            <a:endParaRPr lang="en-IN" sz="3000" dirty="0"/>
          </a:p>
        </p:txBody>
      </p:sp>
    </p:spTree>
    <p:extLst>
      <p:ext uri="{BB962C8B-B14F-4D97-AF65-F5344CB8AC3E}">
        <p14:creationId xmlns:p14="http://schemas.microsoft.com/office/powerpoint/2010/main" val="3918345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AEB08-0A20-3B0E-A857-02ADE97A9ED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7418A223-CEB3-5C99-A7DA-6068C5D69155}"/>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9D08FD95-69BC-C87B-FF05-83D389C14856}"/>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38BBBBFA-8F2E-3992-9941-CA678A581713}"/>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9E75C96E-1F7D-6E8F-A0C7-715798D4C300}"/>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13617535-6C9A-1059-A2DE-4CAA1505E1DB}"/>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B4F3EBF3-9734-A617-6A72-5838B29CACBD}"/>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637852E2-0C97-5C32-E95B-55F8E4666C01}"/>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DBBDCF59-3684-051F-A2AF-10DE0D2C886E}"/>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C5EB9DC9-1BE6-9F6F-E933-F1057B71DC3F}"/>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CC72A7D4-CD12-447E-E0E3-63593D0C8E24}"/>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29327835-C325-2129-8247-9D7E3B43CAAA}"/>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 name="TextBox 1">
            <a:extLst>
              <a:ext uri="{FF2B5EF4-FFF2-40B4-BE49-F238E27FC236}">
                <a16:creationId xmlns:a16="http://schemas.microsoft.com/office/drawing/2014/main" id="{89E493F7-922F-594C-48E7-CEA77FC1B40E}"/>
              </a:ext>
            </a:extLst>
          </p:cNvPr>
          <p:cNvSpPr txBox="1"/>
          <p:nvPr/>
        </p:nvSpPr>
        <p:spPr>
          <a:xfrm>
            <a:off x="1752600" y="1115616"/>
            <a:ext cx="4228850" cy="707886"/>
          </a:xfrm>
          <a:prstGeom prst="rect">
            <a:avLst/>
          </a:prstGeom>
          <a:noFill/>
        </p:spPr>
        <p:txBody>
          <a:bodyPr wrap="none" rtlCol="0">
            <a:spAutoFit/>
          </a:bodyPr>
          <a:lstStyle/>
          <a:p>
            <a:r>
              <a:rPr lang="en-US" sz="4000" b="1" dirty="0"/>
              <a:t>Output waveform :</a:t>
            </a:r>
            <a:endParaRPr lang="en-IN" sz="4000" b="1" dirty="0"/>
          </a:p>
        </p:txBody>
      </p:sp>
      <p:pic>
        <p:nvPicPr>
          <p:cNvPr id="16" name="Picture 15" descr="A computer screen with green and yellow lines&#10;&#10;AI-generated content may be incorrect.">
            <a:extLst>
              <a:ext uri="{FF2B5EF4-FFF2-40B4-BE49-F238E27FC236}">
                <a16:creationId xmlns:a16="http://schemas.microsoft.com/office/drawing/2014/main" id="{F46C7AB1-E9BD-0DEC-6418-0086443380C4}"/>
              </a:ext>
            </a:extLst>
          </p:cNvPr>
          <p:cNvPicPr>
            <a:picLocks noChangeAspect="1"/>
          </p:cNvPicPr>
          <p:nvPr/>
        </p:nvPicPr>
        <p:blipFill>
          <a:blip r:embed="rId4">
            <a:extLst>
              <a:ext uri="{28A0092B-C50C-407E-A947-70E740481C1C}">
                <a14:useLocalDpi xmlns:a14="http://schemas.microsoft.com/office/drawing/2010/main" val="0"/>
              </a:ext>
            </a:extLst>
          </a:blip>
          <a:srcRect r="19579"/>
          <a:stretch>
            <a:fillRect/>
          </a:stretch>
        </p:blipFill>
        <p:spPr>
          <a:xfrm>
            <a:off x="1770620" y="2118890"/>
            <a:ext cx="14764779" cy="7291810"/>
          </a:xfrm>
          <a:prstGeom prst="rect">
            <a:avLst/>
          </a:prstGeom>
        </p:spPr>
      </p:pic>
    </p:spTree>
    <p:extLst>
      <p:ext uri="{BB962C8B-B14F-4D97-AF65-F5344CB8AC3E}">
        <p14:creationId xmlns:p14="http://schemas.microsoft.com/office/powerpoint/2010/main" val="365549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877D-3451-C318-E42F-EC37B213E8D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A34B819-A004-167F-E707-27BF64666EBE}"/>
              </a:ext>
            </a:extLst>
          </p:cNvPr>
          <p:cNvSpPr txBox="1"/>
          <p:nvPr/>
        </p:nvSpPr>
        <p:spPr>
          <a:xfrm>
            <a:off x="-1600200" y="1849176"/>
            <a:ext cx="10511727" cy="854075"/>
          </a:xfrm>
          <a:prstGeom prst="rect">
            <a:avLst/>
          </a:prstGeom>
        </p:spPr>
        <p:txBody>
          <a:bodyPr lIns="0" tIns="0" rIns="0" bIns="0" rtlCol="0" anchor="t">
            <a:spAutoFit/>
          </a:bodyPr>
          <a:lstStyle/>
          <a:p>
            <a:pPr algn="ctr">
              <a:lnSpc>
                <a:spcPts val="7000"/>
              </a:lnSpc>
            </a:pPr>
            <a:r>
              <a:rPr lang="en-US" sz="5000" b="1" dirty="0">
                <a:solidFill>
                  <a:srgbClr val="000000"/>
                </a:solidFill>
                <a:latin typeface="Century Gothic Paneuropean Bold"/>
                <a:ea typeface="Century Gothic Paneuropean Bold"/>
                <a:cs typeface="Century Gothic Paneuropean Bold"/>
                <a:sym typeface="Century Gothic Paneuropean Bold"/>
              </a:rPr>
              <a:t>References :</a:t>
            </a:r>
          </a:p>
        </p:txBody>
      </p:sp>
      <p:grpSp>
        <p:nvGrpSpPr>
          <p:cNvPr id="3" name="Group 3">
            <a:extLst>
              <a:ext uri="{FF2B5EF4-FFF2-40B4-BE49-F238E27FC236}">
                <a16:creationId xmlns:a16="http://schemas.microsoft.com/office/drawing/2014/main" id="{4C70E675-D18D-21D4-56E1-6F62BBE45208}"/>
              </a:ext>
            </a:extLst>
          </p:cNvPr>
          <p:cNvGrpSpPr/>
          <p:nvPr/>
        </p:nvGrpSpPr>
        <p:grpSpPr>
          <a:xfrm>
            <a:off x="16718943" y="-989670"/>
            <a:ext cx="1080715" cy="2956684"/>
            <a:chOff x="0" y="0"/>
            <a:chExt cx="284633" cy="778715"/>
          </a:xfrm>
        </p:grpSpPr>
        <p:sp>
          <p:nvSpPr>
            <p:cNvPr id="4" name="Freeform 4">
              <a:extLst>
                <a:ext uri="{FF2B5EF4-FFF2-40B4-BE49-F238E27FC236}">
                  <a16:creationId xmlns:a16="http://schemas.microsoft.com/office/drawing/2014/main" id="{1C488EEC-750D-AE89-ABBE-09BBF164755E}"/>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a:extLst>
                <a:ext uri="{FF2B5EF4-FFF2-40B4-BE49-F238E27FC236}">
                  <a16:creationId xmlns:a16="http://schemas.microsoft.com/office/drawing/2014/main" id="{7CD5972C-00E2-796E-86B1-EFD2E091A9A3}"/>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1394F936-C558-4A8A-D1F6-968AE4705B30}"/>
              </a:ext>
            </a:extLst>
          </p:cNvPr>
          <p:cNvGrpSpPr/>
          <p:nvPr/>
        </p:nvGrpSpPr>
        <p:grpSpPr>
          <a:xfrm>
            <a:off x="-529352" y="9803843"/>
            <a:ext cx="19346704" cy="821917"/>
            <a:chOff x="0" y="0"/>
            <a:chExt cx="5095428" cy="216472"/>
          </a:xfrm>
        </p:grpSpPr>
        <p:sp>
          <p:nvSpPr>
            <p:cNvPr id="7" name="Freeform 7">
              <a:extLst>
                <a:ext uri="{FF2B5EF4-FFF2-40B4-BE49-F238E27FC236}">
                  <a16:creationId xmlns:a16="http://schemas.microsoft.com/office/drawing/2014/main" id="{04953F3C-9A55-9478-CD8E-96B6C1AEB869}"/>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8" name="TextBox 8">
              <a:extLst>
                <a:ext uri="{FF2B5EF4-FFF2-40B4-BE49-F238E27FC236}">
                  <a16:creationId xmlns:a16="http://schemas.microsoft.com/office/drawing/2014/main" id="{0E3B4FB1-5280-A54D-49CF-626A83B47622}"/>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6C00D78C-A577-EB2F-EF42-D2AE1413D27E}"/>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A3FF7356-74B3-FA32-7D9F-00443EE792E9}"/>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a:extLst>
              <a:ext uri="{FF2B5EF4-FFF2-40B4-BE49-F238E27FC236}">
                <a16:creationId xmlns:a16="http://schemas.microsoft.com/office/drawing/2014/main" id="{400B584E-FBA6-BAD8-262B-33388A6F8BDB}"/>
              </a:ext>
            </a:extLst>
          </p:cNvPr>
          <p:cNvGrpSpPr/>
          <p:nvPr/>
        </p:nvGrpSpPr>
        <p:grpSpPr>
          <a:xfrm>
            <a:off x="488343" y="-989670"/>
            <a:ext cx="1080715" cy="2956684"/>
            <a:chOff x="0" y="0"/>
            <a:chExt cx="284633" cy="778715"/>
          </a:xfrm>
        </p:grpSpPr>
        <p:sp>
          <p:nvSpPr>
            <p:cNvPr id="12" name="Freeform 12">
              <a:extLst>
                <a:ext uri="{FF2B5EF4-FFF2-40B4-BE49-F238E27FC236}">
                  <a16:creationId xmlns:a16="http://schemas.microsoft.com/office/drawing/2014/main" id="{5114AEBD-BB26-01F7-B7C4-A5549774A48F}"/>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a:extLst>
                <a:ext uri="{FF2B5EF4-FFF2-40B4-BE49-F238E27FC236}">
                  <a16:creationId xmlns:a16="http://schemas.microsoft.com/office/drawing/2014/main" id="{0757AF8E-792C-22C6-6D44-FA64552E6317}"/>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EF73F4D0-161F-B8BF-6B20-4B5992FEBDD6}"/>
              </a:ext>
            </a:extLst>
          </p:cNvPr>
          <p:cNvSpPr txBox="1"/>
          <p:nvPr/>
        </p:nvSpPr>
        <p:spPr>
          <a:xfrm>
            <a:off x="2286000" y="3238500"/>
            <a:ext cx="14859000" cy="3046988"/>
          </a:xfrm>
          <a:prstGeom prst="rect">
            <a:avLst/>
          </a:prstGeom>
          <a:noFill/>
        </p:spPr>
        <p:txBody>
          <a:bodyPr wrap="square">
            <a:spAutoFit/>
          </a:bodyPr>
          <a:lstStyle/>
          <a:p>
            <a:r>
              <a:rPr lang="en-US" sz="3200" dirty="0"/>
              <a:t>S. K. Khare et al., "Design of Body Mass Index Calculator Using Combinational Circuits," International Journal of Computer Applications, Vol. 113, No. 3, 2015.</a:t>
            </a:r>
            <a:br>
              <a:rPr lang="en-US" sz="3200" dirty="0"/>
            </a:br>
            <a:r>
              <a:rPr lang="en-IN" sz="3200" dirty="0"/>
              <a:t>I. S. </a:t>
            </a:r>
            <a:r>
              <a:rPr lang="en-IN" sz="3200" dirty="0" err="1"/>
              <a:t>Faradisa</a:t>
            </a:r>
            <a:r>
              <a:rPr lang="en-IN" sz="3200" dirty="0"/>
              <a:t>, R. P. Muhammad, and D. A. </a:t>
            </a:r>
            <a:r>
              <a:rPr lang="en-IN" sz="3200" dirty="0" err="1"/>
              <a:t>Girindraswari</a:t>
            </a:r>
            <a:r>
              <a:rPr lang="en-IN" sz="3200" dirty="0"/>
              <a:t>,</a:t>
            </a:r>
            <a:br>
              <a:rPr lang="en-IN" sz="3200" dirty="0"/>
            </a:br>
            <a:r>
              <a:rPr lang="en-IN" sz="3200" i="1" dirty="0"/>
              <a:t>"A Design of Body Mass Index (BMI) and Body Fat Percentage Device Using Fuzzy Logic,"</a:t>
            </a:r>
            <a:br>
              <a:rPr lang="en-IN" sz="3200" dirty="0"/>
            </a:br>
            <a:r>
              <a:rPr lang="en-IN" sz="3200" i="1" dirty="0"/>
              <a:t>Indonesian Journal of Electronics, Electromedical Engineering, and Medical Informatics (IJEEEMI)</a:t>
            </a:r>
            <a:r>
              <a:rPr lang="en-IN" sz="3200" dirty="0"/>
              <a:t>, vol. 4, no. 2, pp. 65–72, May 2022.</a:t>
            </a:r>
          </a:p>
        </p:txBody>
      </p:sp>
    </p:spTree>
    <p:extLst>
      <p:ext uri="{BB962C8B-B14F-4D97-AF65-F5344CB8AC3E}">
        <p14:creationId xmlns:p14="http://schemas.microsoft.com/office/powerpoint/2010/main" val="3158214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0481" y="4013348"/>
            <a:ext cx="12387037" cy="2031703"/>
          </a:xfrm>
          <a:prstGeom prst="rect">
            <a:avLst/>
          </a:prstGeom>
        </p:spPr>
        <p:txBody>
          <a:bodyPr lIns="0" tIns="0" rIns="0" bIns="0" rtlCol="0" anchor="t">
            <a:spAutoFit/>
          </a:bodyPr>
          <a:lstStyle/>
          <a:p>
            <a:pPr algn="ctr">
              <a:lnSpc>
                <a:spcPts val="16641"/>
              </a:lnSpc>
            </a:pPr>
            <a:r>
              <a:rPr lang="en-US" sz="11886" b="1">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095BEDACB072D47917843A21F000026" ma:contentTypeVersion="4" ma:contentTypeDescription="Create a new document." ma:contentTypeScope="" ma:versionID="2649f52dadc6ef762fa1a95c1554525a">
  <xsd:schema xmlns:xsd="http://www.w3.org/2001/XMLSchema" xmlns:xs="http://www.w3.org/2001/XMLSchema" xmlns:p="http://schemas.microsoft.com/office/2006/metadata/properties" xmlns:ns3="a43d223e-0b7b-4dcd-965e-6eb16c49ec2e" targetNamespace="http://schemas.microsoft.com/office/2006/metadata/properties" ma:root="true" ma:fieldsID="823f1e0c3e1acbb33d1876cd4ba7dd87" ns3:_="">
    <xsd:import namespace="a43d223e-0b7b-4dcd-965e-6eb16c49ec2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3d223e-0b7b-4dcd-965e-6eb16c49ec2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8F4A10-B7CD-4037-9D8E-5BE2276997F7}">
  <ds:schemaRefs>
    <ds:schemaRef ds:uri="http://schemas.microsoft.com/sharepoint/v3/contenttype/forms"/>
  </ds:schemaRefs>
</ds:datastoreItem>
</file>

<file path=customXml/itemProps2.xml><?xml version="1.0" encoding="utf-8"?>
<ds:datastoreItem xmlns:ds="http://schemas.openxmlformats.org/officeDocument/2006/customXml" ds:itemID="{F22B3DB0-6F69-4831-BD7A-ABD51453D8EA}">
  <ds:schemaRefs>
    <ds:schemaRef ds:uri="http://purl.org/dc/terms/"/>
    <ds:schemaRef ds:uri="http://schemas.microsoft.com/office/infopath/2007/PartnerControls"/>
    <ds:schemaRef ds:uri="http://purl.org/dc/dcmitype/"/>
    <ds:schemaRef ds:uri="http://schemas.openxmlformats.org/package/2006/metadata/core-properties"/>
    <ds:schemaRef ds:uri="http://purl.org/dc/elements/1.1/"/>
    <ds:schemaRef ds:uri="http://schemas.microsoft.com/office/2006/documentManagement/types"/>
    <ds:schemaRef ds:uri="a43d223e-0b7b-4dcd-965e-6eb16c49ec2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D8EE5BD-1DD4-4FEA-92E5-D8179A2A93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3d223e-0b7b-4dcd-965e-6eb16c49ec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TotalTime>
  <Words>2231</Words>
  <Application>Microsoft Office PowerPoint</Application>
  <PresentationFormat>Custom</PresentationFormat>
  <Paragraphs>108</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Century Gothic Paneuropean</vt:lpstr>
      <vt:lpstr>Century Gothic Paneuropean Bold</vt:lpstr>
      <vt:lpstr>Open Sans</vt:lpstr>
      <vt:lpstr>Aharoni</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BMI Monitor</dc:title>
  <dc:creator>Pardhu Sai Harsha</dc:creator>
  <cp:lastModifiedBy>Veligatla Pardhu Sai Harsha</cp:lastModifiedBy>
  <cp:revision>5</cp:revision>
  <dcterms:created xsi:type="dcterms:W3CDTF">2006-08-16T00:00:00Z</dcterms:created>
  <dcterms:modified xsi:type="dcterms:W3CDTF">2025-11-06T16:17:14Z</dcterms:modified>
  <dc:identifier>DAGySDsZtVk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0x0101008095BEDACB072D47917843A21F000026</vt:lpwstr>
  </property>
</Properties>
</file>